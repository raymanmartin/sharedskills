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935" r:id="rId2"/>
    <p:sldId id="486" r:id="rId3"/>
    <p:sldId id="851" r:id="rId4"/>
    <p:sldId id="977" r:id="rId5"/>
    <p:sldId id="956" r:id="rId6"/>
    <p:sldId id="907" r:id="rId7"/>
    <p:sldId id="852" r:id="rId8"/>
    <p:sldId id="908" r:id="rId9"/>
    <p:sldId id="909" r:id="rId10"/>
    <p:sldId id="982" r:id="rId11"/>
    <p:sldId id="983" r:id="rId12"/>
    <p:sldId id="986" r:id="rId13"/>
    <p:sldId id="954" r:id="rId14"/>
    <p:sldId id="955" r:id="rId15"/>
    <p:sldId id="981" r:id="rId16"/>
    <p:sldId id="985" r:id="rId17"/>
    <p:sldId id="944" r:id="rId18"/>
    <p:sldId id="945" r:id="rId19"/>
    <p:sldId id="946" r:id="rId20"/>
    <p:sldId id="947" r:id="rId21"/>
    <p:sldId id="948" r:id="rId22"/>
    <p:sldId id="963" r:id="rId23"/>
    <p:sldId id="984" r:id="rId24"/>
    <p:sldId id="965" r:id="rId25"/>
    <p:sldId id="966" r:id="rId26"/>
    <p:sldId id="976" r:id="rId27"/>
    <p:sldId id="969" r:id="rId28"/>
    <p:sldId id="972" r:id="rId29"/>
    <p:sldId id="978" r:id="rId30"/>
    <p:sldId id="967" r:id="rId31"/>
    <p:sldId id="987" r:id="rId32"/>
    <p:sldId id="973" r:id="rId33"/>
    <p:sldId id="968" r:id="rId34"/>
    <p:sldId id="974" r:id="rId35"/>
    <p:sldId id="970" r:id="rId36"/>
    <p:sldId id="975" r:id="rId37"/>
    <p:sldId id="979" r:id="rId38"/>
    <p:sldId id="980" r:id="rId39"/>
    <p:sldId id="937" r:id="rId40"/>
    <p:sldId id="936" r:id="rId41"/>
  </p:sldIdLst>
  <p:sldSz cx="12190413" cy="6859588"/>
  <p:notesSz cx="6669088" cy="9926638"/>
  <p:defaultTextStyle>
    <a:defPPr>
      <a:defRPr lang="zh-CN"/>
    </a:defPPr>
    <a:lvl1pPr algn="l" defTabSz="108712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42925" indent="-15875" algn="l" defTabSz="108712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087755" indent="-34925" algn="l" defTabSz="108712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630680" indent="-52705" algn="l" defTabSz="108712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174875" indent="-71755" algn="l" defTabSz="108712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>
          <p15:clr>
            <a:srgbClr val="A4A3A4"/>
          </p15:clr>
        </p15:guide>
        <p15:guide id="2" pos="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2E23"/>
    <a:srgbClr val="D9D9D9"/>
    <a:srgbClr val="C0CEDA"/>
    <a:srgbClr val="CBCBCB"/>
    <a:srgbClr val="F1F5E7"/>
    <a:srgbClr val="6FA0DB"/>
    <a:srgbClr val="E28304"/>
    <a:srgbClr val="E2AC00"/>
    <a:srgbClr val="368AB4"/>
    <a:srgbClr val="C9E2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6357" autoAdjust="0"/>
  </p:normalViewPr>
  <p:slideViewPr>
    <p:cSldViewPr>
      <p:cViewPr varScale="1">
        <p:scale>
          <a:sx n="89" d="100"/>
          <a:sy n="89" d="100"/>
        </p:scale>
        <p:origin x="162" y="-6"/>
      </p:cViewPr>
      <p:guideLst>
        <p:guide orient="horz" pos="2186"/>
        <p:guide pos="38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95300"/>
          </a:xfrm>
          <a:prstGeom prst="rect">
            <a:avLst/>
          </a:prstGeom>
        </p:spPr>
        <p:txBody>
          <a:bodyPr vert="horz" lIns="94829" tIns="47414" rIns="94829" bIns="47414" rtlCol="0"/>
          <a:lstStyle>
            <a:lvl1pPr algn="l" defTabSz="815975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5300"/>
          </a:xfrm>
          <a:prstGeom prst="rect">
            <a:avLst/>
          </a:prstGeom>
        </p:spPr>
        <p:txBody>
          <a:bodyPr vert="horz" lIns="94829" tIns="47414" rIns="94829" bIns="47414" rtlCol="0"/>
          <a:lstStyle>
            <a:lvl1pPr algn="r" defTabSz="815975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0C3A6B0-5D57-4D84-9807-DD13F365EB9E}" type="datetimeFigureOut">
              <a:rPr lang="zh-CN" altLang="en-US"/>
              <a:t>2023/4/24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6988" y="744538"/>
            <a:ext cx="661511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29" tIns="47414" rIns="94829" bIns="4741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6750" y="4714875"/>
            <a:ext cx="5335588" cy="4467225"/>
          </a:xfrm>
          <a:prstGeom prst="rect">
            <a:avLst/>
          </a:prstGeom>
        </p:spPr>
        <p:txBody>
          <a:bodyPr vert="horz" lIns="94829" tIns="47414" rIns="94829" bIns="4741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90838" cy="495300"/>
          </a:xfrm>
          <a:prstGeom prst="rect">
            <a:avLst/>
          </a:prstGeom>
        </p:spPr>
        <p:txBody>
          <a:bodyPr vert="horz" lIns="94829" tIns="47414" rIns="94829" bIns="47414" rtlCol="0" anchor="b"/>
          <a:lstStyle>
            <a:lvl1pPr algn="l" defTabSz="815975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78250" y="9429750"/>
            <a:ext cx="2889250" cy="495300"/>
          </a:xfrm>
          <a:prstGeom prst="rect">
            <a:avLst/>
          </a:prstGeom>
        </p:spPr>
        <p:txBody>
          <a:bodyPr vert="horz" lIns="94829" tIns="47414" rIns="94829" bIns="47414" rtlCol="0" anchor="b"/>
          <a:lstStyle>
            <a:lvl1pPr algn="r" defTabSz="815975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30DF973-DCA0-4DB0-92C3-E684E721AA63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2387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4965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767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10058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628900" algn="l" defTabSz="10515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154680" algn="l" defTabSz="10515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681095" algn="l" defTabSz="10515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206875" algn="l" defTabSz="10515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ackage_format" TargetMode="External"/><Relationship Id="rId7" Type="http://schemas.openxmlformats.org/officeDocument/2006/relationships/hyperlink" Target="https://en.wikipedia.org/wiki/Middleware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Mobile_app" TargetMode="External"/><Relationship Id="rId5" Type="http://schemas.openxmlformats.org/officeDocument/2006/relationships/hyperlink" Target="https://en.wikipedia.org/wiki/Android_(operating_system)" TargetMode="External"/><Relationship Id="rId4" Type="http://schemas.openxmlformats.org/officeDocument/2006/relationships/hyperlink" Target="https://en.wikipedia.org/wiki/File_forma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0DF973-DCA0-4DB0-92C3-E684E721AA6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        An Android app is a software application running on the Android platform. Because the Android platform is built for mobile devices, a typical Android app is designed for a smartphone or a tablet PC running on the Android OS.</a:t>
            </a:r>
          </a:p>
          <a:p>
            <a:endParaRPr lang="en-US" altLang="zh-CN"/>
          </a:p>
          <a:p>
            <a:r>
              <a:rPr lang="en-US" altLang="zh-CN"/>
              <a:t>        Android apps can be written using </a:t>
            </a:r>
            <a:r>
              <a:rPr lang="en-US" altLang="zh-CN" err="1"/>
              <a:t>Kotlin</a:t>
            </a:r>
            <a:r>
              <a:rPr lang="en-US" altLang="zh-CN"/>
              <a:t>, Java, and C++ languages. The Android SDK tools compile your code along with any data and resource files into an APK, an </a:t>
            </a:r>
            <a:r>
              <a:rPr lang="en-US" altLang="zh-CN" i="1"/>
              <a:t>Android package</a:t>
            </a:r>
            <a:r>
              <a:rPr lang="en-US" altLang="zh-CN"/>
              <a:t>, which is an archive file with an .</a:t>
            </a:r>
            <a:r>
              <a:rPr lang="en-US" altLang="zh-CN" err="1"/>
              <a:t>apk</a:t>
            </a:r>
            <a:r>
              <a:rPr lang="en-US" altLang="zh-CN"/>
              <a:t> suffix. One APK file contains all the contents of an Android app and is the file that Android-powered devices use to install the app.</a:t>
            </a:r>
          </a:p>
          <a:p>
            <a:endParaRPr lang="en-US" altLang="zh-CN"/>
          </a:p>
          <a:p>
            <a:r>
              <a:rPr lang="en-US" altLang="zh-CN" b="1"/>
              <a:t>Android Package Kit</a:t>
            </a:r>
            <a:r>
              <a:rPr lang="en-US" altLang="zh-CN"/>
              <a:t> (</a:t>
            </a:r>
            <a:r>
              <a:rPr lang="en-US" altLang="zh-CN" b="1"/>
              <a:t>APK</a:t>
            </a:r>
            <a:r>
              <a:rPr lang="en-US" altLang="zh-CN"/>
              <a:t>) is the </a:t>
            </a:r>
            <a:r>
              <a:rPr lang="en-US" altLang="zh-CN">
                <a:hlinkClick r:id="rId3" tooltip="Package format"/>
              </a:rPr>
              <a:t>package</a:t>
            </a:r>
            <a:r>
              <a:rPr lang="en-US" altLang="zh-CN"/>
              <a:t> </a:t>
            </a:r>
            <a:r>
              <a:rPr lang="en-US" altLang="zh-CN">
                <a:hlinkClick r:id="rId4" tooltip="File format"/>
              </a:rPr>
              <a:t>file format</a:t>
            </a:r>
            <a:r>
              <a:rPr lang="en-US" altLang="zh-CN"/>
              <a:t> used by the </a:t>
            </a:r>
            <a:r>
              <a:rPr lang="en-US" altLang="zh-CN">
                <a:hlinkClick r:id="rId5" tooltip="Android (operating system)"/>
              </a:rPr>
              <a:t>Android</a:t>
            </a:r>
            <a:r>
              <a:rPr lang="en-US" altLang="zh-CN"/>
              <a:t> operating system for distribution and installation of </a:t>
            </a:r>
            <a:r>
              <a:rPr lang="en-US" altLang="zh-CN">
                <a:hlinkClick r:id="rId6" tooltip="Mobile app"/>
              </a:rPr>
              <a:t>mobile apps</a:t>
            </a:r>
            <a:r>
              <a:rPr lang="en-US" altLang="zh-CN"/>
              <a:t> and </a:t>
            </a:r>
            <a:r>
              <a:rPr lang="en-US" altLang="zh-CN">
                <a:hlinkClick r:id="rId7" tooltip="Middleware"/>
              </a:rPr>
              <a:t>middleware</a:t>
            </a:r>
            <a:r>
              <a:rPr lang="en-US" altLang="zh-CN"/>
              <a:t>.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0DF973-DCA0-4DB0-92C3-E684E721AA6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90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jp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4"/>
          <p:cNvPicPr>
            <a:picLocks noChangeAspect="1" noChangeArrowheads="1"/>
          </p:cNvPicPr>
          <p:nvPr userDrawn="1"/>
        </p:nvPicPr>
        <p:blipFill>
          <a:blip r:embed="rId2"/>
          <a:srcRect l="15816"/>
          <a:stretch>
            <a:fillRect/>
          </a:stretch>
        </p:blipFill>
        <p:spPr bwMode="auto">
          <a:xfrm>
            <a:off x="0" y="847725"/>
            <a:ext cx="7067550" cy="536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52"/>
          <p:cNvSpPr txBox="1">
            <a:spLocks noChangeArrowheads="1"/>
          </p:cNvSpPr>
          <p:nvPr userDrawn="1"/>
        </p:nvSpPr>
        <p:spPr bwMode="auto">
          <a:xfrm>
            <a:off x="8062913" y="6383338"/>
            <a:ext cx="3789362" cy="2857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eaLnBrk="0" hangingPunct="0"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8712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8712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8712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8712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altLang="zh-CN" sz="1100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 sz="1100">
                <a:solidFill>
                  <a:srgbClr val="000000"/>
                </a:solidFill>
              </a:rPr>
              <a:t>© </a:t>
            </a:r>
            <a:r>
              <a:rPr lang="en-US" altLang="zh-CN" sz="1100" b="1">
                <a:cs typeface="Arial" panose="020B0604020202020204" pitchFamily="34" charset="0"/>
              </a:rPr>
              <a:t>Quectel Wireless Solutions Co., Ltd. </a:t>
            </a:r>
            <a:r>
              <a:rPr lang="en-US" altLang="zh-CN" sz="1100" b="1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zh-CN" sz="1100">
                <a:solidFill>
                  <a:srgbClr val="000000"/>
                </a:solidFill>
              </a:rPr>
              <a:t>All rights reserved</a:t>
            </a:r>
          </a:p>
        </p:txBody>
      </p:sp>
      <p:sp>
        <p:nvSpPr>
          <p:cNvPr id="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502941" y="3352393"/>
            <a:ext cx="9086777" cy="434591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buNone/>
              <a:defRPr sz="210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单击此处编辑母版副标题样式</a:t>
            </a:r>
            <a:endParaRPr lang="en-US" altLang="zh-CN" dirty="0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223024" y="2470389"/>
            <a:ext cx="9377214" cy="487099"/>
          </a:xfrm>
          <a:prstGeom prst="rect">
            <a:avLst/>
          </a:prstGeom>
        </p:spPr>
        <p:txBody>
          <a:bodyPr/>
          <a:lstStyle>
            <a:lvl1pPr algn="r">
              <a:defRPr sz="4100" b="1" baseline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14" name="文本占位符 26"/>
          <p:cNvSpPr>
            <a:spLocks noGrp="1"/>
          </p:cNvSpPr>
          <p:nvPr>
            <p:ph type="body" sz="quarter" idx="10"/>
          </p:nvPr>
        </p:nvSpPr>
        <p:spPr>
          <a:xfrm>
            <a:off x="7168259" y="4713949"/>
            <a:ext cx="4338673" cy="285367"/>
          </a:xfrm>
          <a:prstGeom prst="rect">
            <a:avLst/>
          </a:prstGeom>
        </p:spPr>
        <p:txBody>
          <a:bodyPr anchor="ctr"/>
          <a:lstStyle>
            <a:lvl1pPr marL="414655" marR="0" indent="-414655" algn="r" defTabSz="1051560" rtl="0" eaLnBrk="0" fontAlgn="base" latinLnBrk="0" hangingPunct="0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 sz="16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5" name="文本占位符 10"/>
          <p:cNvSpPr>
            <a:spLocks noGrp="1"/>
          </p:cNvSpPr>
          <p:nvPr>
            <p:ph type="body" sz="quarter" idx="11"/>
          </p:nvPr>
        </p:nvSpPr>
        <p:spPr>
          <a:xfrm>
            <a:off x="7168207" y="5075312"/>
            <a:ext cx="4338651" cy="280713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3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8" name="Picture 2" descr="F:\Quectel VI\移远通信视觉识别系统规范手册\2015CIS\Quectel logo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24164" y="715150"/>
            <a:ext cx="2778094" cy="463492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20"/>
          <p:cNvSpPr>
            <a:spLocks noGrp="1"/>
          </p:cNvSpPr>
          <p:nvPr>
            <p:ph type="title" hasCustomPrompt="1"/>
          </p:nvPr>
        </p:nvSpPr>
        <p:spPr>
          <a:xfrm>
            <a:off x="436056" y="500836"/>
            <a:ext cx="11062648" cy="279162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25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</a:lstStyle>
          <a:p>
            <a:pPr lvl="0"/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占位符 20"/>
          <p:cNvSpPr>
            <a:spLocks noGrp="1"/>
          </p:cNvSpPr>
          <p:nvPr>
            <p:ph type="title"/>
          </p:nvPr>
        </p:nvSpPr>
        <p:spPr>
          <a:xfrm>
            <a:off x="436056" y="500836"/>
            <a:ext cx="11062648" cy="279162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lnSpc>
                <a:spcPct val="90000"/>
              </a:lnSpc>
              <a:defRPr sz="25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2" name="Inhaltsplatzhalter 2"/>
          <p:cNvSpPr>
            <a:spLocks noGrp="1"/>
          </p:cNvSpPr>
          <p:nvPr>
            <p:ph idx="1" hasCustomPrompt="1"/>
          </p:nvPr>
        </p:nvSpPr>
        <p:spPr>
          <a:xfrm>
            <a:off x="436057" y="987124"/>
            <a:ext cx="11318300" cy="5234292"/>
          </a:xfrm>
          <a:prstGeom prst="rect">
            <a:avLst/>
          </a:prstGeom>
        </p:spPr>
        <p:txBody>
          <a:bodyPr/>
          <a:lstStyle>
            <a:lvl1pPr marL="414020" indent="-414020">
              <a:spcBef>
                <a:spcPts val="620"/>
              </a:spcBef>
              <a:buNone/>
              <a:defRPr sz="210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1775" indent="-227965">
              <a:spcBef>
                <a:spcPts val="620"/>
              </a:spcBef>
              <a:buClr>
                <a:srgbClr val="FF0000"/>
              </a:buClr>
              <a:buSzPct val="120000"/>
              <a:buFont typeface="Arial" panose="020B0604020202020204" pitchFamily="34" charset="0"/>
              <a:buChar char="▪"/>
              <a:defRPr sz="210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47040" indent="-215265">
              <a:spcBef>
                <a:spcPts val="515"/>
              </a:spcBef>
              <a:buClr>
                <a:schemeClr val="tx1">
                  <a:lumMod val="50000"/>
                  <a:lumOff val="50000"/>
                </a:schemeClr>
              </a:buClr>
              <a:buSzPct val="120000"/>
              <a:buFont typeface="Arial" panose="020B0604020202020204" pitchFamily="34" charset="0"/>
              <a:buChar char="▪"/>
              <a:defRPr sz="170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62305" indent="-215265">
              <a:spcBef>
                <a:spcPts val="515"/>
              </a:spcBef>
              <a:buClr>
                <a:schemeClr val="tx1">
                  <a:lumMod val="50000"/>
                  <a:lumOff val="50000"/>
                </a:schemeClr>
              </a:buClr>
              <a:buSzPct val="120000"/>
              <a:buFont typeface="Arial" panose="020B0604020202020204" pitchFamily="34" charset="0"/>
              <a:buChar char="▪"/>
              <a:defRPr sz="170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82015" indent="-215265">
              <a:spcBef>
                <a:spcPts val="515"/>
              </a:spcBef>
              <a:buClr>
                <a:schemeClr val="tx1">
                  <a:lumMod val="50000"/>
                  <a:lumOff val="50000"/>
                </a:schemeClr>
              </a:buClr>
              <a:buSzPct val="120000"/>
              <a:buFont typeface="Arial" panose="020B0604020202020204" pitchFamily="34" charset="0"/>
              <a:buChar char="▪"/>
              <a:defRPr sz="170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C:\Users\Administrator\Desktop\81328552_huge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" b="15326"/>
          <a:stretch>
            <a:fillRect/>
          </a:stretch>
        </p:blipFill>
        <p:spPr bwMode="auto">
          <a:xfrm>
            <a:off x="0" y="-50255"/>
            <a:ext cx="12190413" cy="6909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:\Quectel VI\移远通信视觉识别系统规范手册\2015CIS\Quectel logo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24164" y="715150"/>
            <a:ext cx="2778094" cy="463492"/>
          </a:xfrm>
          <a:prstGeom prst="rect">
            <a:avLst/>
          </a:prstGeom>
          <a:noFill/>
        </p:spPr>
      </p:pic>
      <p:pic>
        <p:nvPicPr>
          <p:cNvPr id="8" name="Picture 2" descr="F:\备份\20170515\20170427132218494-2.png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297075" y="3247905"/>
            <a:ext cx="10921304" cy="313987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89F4B-5288-A94D-AEB3-3B38E63004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802" y="1122623"/>
            <a:ext cx="9142810" cy="2388153"/>
          </a:xfrm>
          <a:prstGeom prst="rect">
            <a:avLst/>
          </a:prstGeo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1CA1A-B9EA-FF42-A3DB-B16907669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802" y="3602872"/>
            <a:ext cx="9142810" cy="16561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594D9-769C-0944-8FB3-8CD1348C9D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091" y="6357822"/>
            <a:ext cx="2742843" cy="365210"/>
          </a:xfrm>
          <a:prstGeom prst="rect">
            <a:avLst/>
          </a:prstGeom>
        </p:spPr>
        <p:txBody>
          <a:bodyPr/>
          <a:lstStyle/>
          <a:p>
            <a:fld id="{51C8B995-3DE7-E549-8BDA-3CE6F09CB4D9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B58A3-EFEB-4741-9D2E-CB433CC94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075" y="6357822"/>
            <a:ext cx="4114264" cy="36521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CBC61-A05C-9346-9243-426288790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9479" y="6357822"/>
            <a:ext cx="2742843" cy="365210"/>
          </a:xfrm>
          <a:prstGeom prst="rect">
            <a:avLst/>
          </a:prstGeom>
        </p:spPr>
        <p:txBody>
          <a:bodyPr/>
          <a:lstStyle/>
          <a:p>
            <a:fld id="{51B2FD34-BE30-DA4D-86BE-75D6D07FE44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41D9E312-C2DE-834D-9791-DBF243D36A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60"/>
            <a:ext cx="12190413" cy="6857828"/>
          </a:xfrm>
          <a:prstGeom prst="rect">
            <a:avLst/>
          </a:prstGeom>
        </p:spPr>
      </p:pic>
      <p:pic>
        <p:nvPicPr>
          <p:cNvPr id="8" name="Picture 20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D881E938-3115-954A-97B3-71C7D22588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291" y="5605283"/>
            <a:ext cx="3017943" cy="1022344"/>
          </a:xfrm>
          <a:prstGeom prst="rect">
            <a:avLst/>
          </a:prstGeom>
        </p:spPr>
      </p:pic>
      <p:pic>
        <p:nvPicPr>
          <p:cNvPr id="9" name="Picture 18" descr="Logo&#10;&#10;Description automatically generated">
            <a:extLst>
              <a:ext uri="{FF2B5EF4-FFF2-40B4-BE49-F238E27FC236}">
                <a16:creationId xmlns:a16="http://schemas.microsoft.com/office/drawing/2014/main" id="{8C2D79AD-B444-6C45-8666-B189AD07AC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776" y="231962"/>
            <a:ext cx="2918458" cy="98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646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8">
            <a:extLst>
              <a:ext uri="{FF2B5EF4-FFF2-40B4-BE49-F238E27FC236}">
                <a16:creationId xmlns:a16="http://schemas.microsoft.com/office/drawing/2014/main" id="{E52AC10B-5090-9E4A-B264-890987482A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565" y="880"/>
            <a:ext cx="12187284" cy="6857828"/>
          </a:xfrm>
          <a:prstGeom prst="rect">
            <a:avLst/>
          </a:prstGeom>
        </p:spPr>
      </p:pic>
      <p:pic>
        <p:nvPicPr>
          <p:cNvPr id="22" name="Picture 2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3EB4828-9AE2-3943-82CE-F995C79616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697391" y="0"/>
            <a:ext cx="5069006" cy="1717153"/>
          </a:xfrm>
          <a:prstGeom prst="rect">
            <a:avLst/>
          </a:prstGeom>
        </p:spPr>
      </p:pic>
      <p:pic>
        <p:nvPicPr>
          <p:cNvPr id="23" name="Picture 24">
            <a:extLst>
              <a:ext uri="{FF2B5EF4-FFF2-40B4-BE49-F238E27FC236}">
                <a16:creationId xmlns:a16="http://schemas.microsoft.com/office/drawing/2014/main" id="{CEBC2EA3-52B4-594F-BE9E-5D8D3C155E1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671858" y="3965053"/>
            <a:ext cx="3017941" cy="1022343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269B49B5-50FD-DB47-BA98-AB90AD066BAE}"/>
              </a:ext>
            </a:extLst>
          </p:cNvPr>
          <p:cNvGrpSpPr/>
          <p:nvPr userDrawn="1"/>
        </p:nvGrpSpPr>
        <p:grpSpPr>
          <a:xfrm>
            <a:off x="118291" y="260984"/>
            <a:ext cx="11714860" cy="6469821"/>
            <a:chOff x="118306" y="260923"/>
            <a:chExt cx="11716385" cy="6468323"/>
          </a:xfrm>
        </p:grpSpPr>
        <p:sp>
          <p:nvSpPr>
            <p:cNvPr id="25" name="TextBox 18">
              <a:extLst>
                <a:ext uri="{FF2B5EF4-FFF2-40B4-BE49-F238E27FC236}">
                  <a16:creationId xmlns:a16="http://schemas.microsoft.com/office/drawing/2014/main" id="{03065B40-67B6-B243-B1DD-9D67DD8B2629}"/>
                </a:ext>
              </a:extLst>
            </p:cNvPr>
            <p:cNvSpPr txBox="1"/>
            <p:nvPr/>
          </p:nvSpPr>
          <p:spPr>
            <a:xfrm>
              <a:off x="428383" y="1457514"/>
              <a:ext cx="49487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>
                  <a:solidFill>
                    <a:srgbClr val="FA0505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移</a:t>
              </a:r>
              <a:r>
                <a:rPr lang="zh-CN" altLang="en-US" sz="2800" b="1">
                  <a:solidFill>
                    <a:srgbClr val="FA0505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联万物，志高行</a:t>
              </a:r>
              <a:r>
                <a:rPr lang="zh-CN" altLang="en-US" sz="4400" b="1">
                  <a:solidFill>
                    <a:srgbClr val="FA0505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远</a:t>
              </a:r>
              <a:endParaRPr lang="en-US" altLang="zh-CN" sz="4400" b="1">
                <a:solidFill>
                  <a:srgbClr val="FA0505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6" name="TextBox 19">
              <a:extLst>
                <a:ext uri="{FF2B5EF4-FFF2-40B4-BE49-F238E27FC236}">
                  <a16:creationId xmlns:a16="http://schemas.microsoft.com/office/drawing/2014/main" id="{1D3B9040-F0E1-BD4C-9915-AA0A38F1A8E4}"/>
                </a:ext>
              </a:extLst>
            </p:cNvPr>
            <p:cNvSpPr txBox="1"/>
            <p:nvPr/>
          </p:nvSpPr>
          <p:spPr>
            <a:xfrm>
              <a:off x="415702" y="2409490"/>
              <a:ext cx="5680298" cy="2039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502" indent="-17150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b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拥有更丰富、完整的物联网模组产品组合，一站式满足不同场景和地区的需求</a:t>
              </a:r>
              <a:endParaRPr lang="en-US" altLang="zh-CN" sz="11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 marL="171502" indent="-17150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b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推出类型丰富的天线产品，具备全定制天线设计、集成和制造的能力</a:t>
              </a:r>
              <a:endParaRPr lang="en-US" altLang="zh-CN" sz="11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 marL="171502" indent="-17150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b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提供云平台管理服务，满足从硬件接入到软件应用的全流程解决方案需求</a:t>
              </a:r>
              <a:endParaRPr lang="en-US" altLang="zh-CN" sz="11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 marL="171502" indent="-17150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b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全自动化生产线、测试线，保障产品质量始终如一，同时具有超高性价比</a:t>
              </a:r>
              <a:endParaRPr lang="en-US" altLang="zh-CN" sz="11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 marL="171502" indent="-17150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b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建立了业内规模领先的研发团队，为客户提供及时、专业、贴心的技术支持服务</a:t>
              </a:r>
              <a:endParaRPr lang="en-US" altLang="zh-CN" sz="11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 marL="171502" indent="-17150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b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持续研发新技术、新产品，率先发布</a:t>
              </a:r>
              <a:r>
                <a:rPr lang="en-US" altLang="zh-CN" sz="1100" b="1">
                  <a:solidFill>
                    <a:schemeClr val="bg1"/>
                  </a:solidFill>
                  <a:ea typeface="黑体" panose="02010609060101010101" pitchFamily="49" charset="-122"/>
                  <a:cs typeface="Arial" panose="020B0604020202020204" pitchFamily="34" charset="0"/>
                </a:rPr>
                <a:t>5G</a:t>
              </a:r>
              <a:r>
                <a:rPr lang="zh-CN" altLang="en-US" sz="1100" b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、安卓智能、</a:t>
              </a:r>
              <a:r>
                <a:rPr lang="en-US" altLang="zh-CN" sz="1100" b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LPWA</a:t>
              </a:r>
              <a:r>
                <a:rPr lang="zh-CN" altLang="en-US" sz="1100" b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、</a:t>
              </a:r>
              <a:r>
                <a:rPr lang="en-US" altLang="zh-CN" sz="1100" b="1">
                  <a:solidFill>
                    <a:schemeClr val="bg1"/>
                  </a:solidFill>
                  <a:ea typeface="黑体" panose="02010609060101010101" pitchFamily="49" charset="-122"/>
                  <a:cs typeface="Arial" panose="020B0604020202020204" pitchFamily="34" charset="0"/>
                </a:rPr>
                <a:t>C-V2X</a:t>
              </a:r>
              <a:r>
                <a:rPr lang="zh-CN" altLang="en-US" sz="1100" b="1">
                  <a:solidFill>
                    <a:schemeClr val="bg1"/>
                  </a:solidFill>
                  <a:ea typeface="黑体" panose="02010609060101010101" pitchFamily="49" charset="-122"/>
                  <a:cs typeface="Arial" panose="020B0604020202020204" pitchFamily="34" charset="0"/>
                </a:rPr>
                <a:t>等</a:t>
              </a:r>
              <a:r>
                <a:rPr lang="zh-CN" altLang="en-US" sz="1100" b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产品</a:t>
              </a:r>
              <a:endParaRPr lang="en-US" altLang="zh-CN" sz="11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 marL="171502" indent="-171502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100" b="1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富有创新精神的国际化专业团队，始终保证“客户第一”</a:t>
              </a:r>
              <a:endParaRPr lang="en-US" altLang="zh-CN" sz="11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endParaRPr>
            </a:p>
            <a:p>
              <a:pPr marL="285835" indent="-285835">
                <a:buFont typeface="Arial" panose="020B0604020202020204" pitchFamily="34" charset="0"/>
                <a:buChar char="•"/>
              </a:pPr>
              <a:endParaRPr lang="en-US" altLang="zh-CN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0">
              <a:extLst>
                <a:ext uri="{FF2B5EF4-FFF2-40B4-BE49-F238E27FC236}">
                  <a16:creationId xmlns:a16="http://schemas.microsoft.com/office/drawing/2014/main" id="{7228C5C2-B57C-3F48-8E2C-533402F70D1A}"/>
                </a:ext>
              </a:extLst>
            </p:cNvPr>
            <p:cNvSpPr txBox="1"/>
            <p:nvPr/>
          </p:nvSpPr>
          <p:spPr>
            <a:xfrm>
              <a:off x="6203066" y="5909584"/>
              <a:ext cx="3570207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上海市闵行区田林路</a:t>
              </a:r>
              <a:r>
                <a:rPr lang="en-US" altLang="zh-CN" sz="9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1016</a:t>
              </a:r>
              <a:r>
                <a:rPr lang="zh-CN" altLang="en-US" sz="9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号科技绿洲</a:t>
              </a:r>
              <a:r>
                <a:rPr lang="en-US" altLang="zh-CN" sz="9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3</a:t>
              </a:r>
              <a:r>
                <a:rPr lang="zh-CN" altLang="en-US" sz="9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期（</a:t>
              </a:r>
              <a:r>
                <a:rPr lang="en-US" altLang="zh-CN" sz="9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B</a:t>
              </a:r>
              <a:r>
                <a:rPr lang="zh-CN" altLang="en-US" sz="9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区）</a:t>
              </a:r>
              <a:r>
                <a:rPr lang="en-US" altLang="zh-CN" sz="9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5</a:t>
              </a:r>
              <a:r>
                <a:rPr lang="zh-CN" altLang="en-US" sz="9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号楼  </a:t>
              </a:r>
              <a:r>
                <a:rPr lang="en-US" altLang="zh-CN" sz="900">
                  <a:solidFill>
                    <a:schemeClr val="bg1"/>
                  </a:solidFill>
                  <a:cs typeface="Arial" panose="020B0604020202020204" pitchFamily="34" charset="0"/>
                </a:rPr>
                <a:t>200233</a:t>
              </a:r>
            </a:p>
            <a:p>
              <a:pPr marL="0" marR="0" lvl="0" indent="0" algn="l" defTabSz="108732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9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联系电话</a:t>
              </a:r>
              <a:r>
                <a:rPr lang="zh-CN" altLang="en-US" sz="900">
                  <a:solidFill>
                    <a:schemeClr val="bg1"/>
                  </a:solidFill>
                  <a:cs typeface="Arial" panose="020B0604020202020204" pitchFamily="34" charset="0"/>
                </a:rPr>
                <a:t>：</a:t>
              </a:r>
              <a:r>
                <a:rPr lang="en-US" altLang="zh-CN" sz="900" b="1">
                  <a:solidFill>
                    <a:schemeClr val="bg1"/>
                  </a:solidFill>
                  <a:cs typeface="Arial" panose="020B0604020202020204" pitchFamily="34" charset="0"/>
                </a:rPr>
                <a:t>+86 21 5108 6236 </a:t>
              </a:r>
              <a:r>
                <a:rPr lang="zh-CN" altLang="en-US" sz="900">
                  <a:solidFill>
                    <a:schemeClr val="bg1"/>
                  </a:solidFill>
                  <a:cs typeface="Arial" panose="020B0604020202020204" pitchFamily="34" charset="0"/>
                </a:rPr>
                <a:t>    </a:t>
              </a:r>
              <a:r>
                <a:rPr lang="zh-CN" altLang="en-US" sz="9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销售支持</a:t>
              </a:r>
              <a:r>
                <a:rPr lang="zh-CN" altLang="en-US" sz="900">
                  <a:solidFill>
                    <a:schemeClr val="bg1"/>
                  </a:solidFill>
                  <a:cs typeface="Arial" panose="020B0604020202020204" pitchFamily="34" charset="0"/>
                </a:rPr>
                <a:t>：</a:t>
              </a:r>
              <a:r>
                <a:rPr lang="en-US" altLang="zh-CN" sz="900" b="1" u="none" kern="1200">
                  <a:solidFill>
                    <a:schemeClr val="bg1"/>
                  </a:solidFill>
                  <a:latin typeface="Arial" pitchFamily="34" charset="0"/>
                  <a:ea typeface="宋体" pitchFamily="2" charset="-122"/>
                  <a:cs typeface="Arial" panose="020B0604020202020204" pitchFamily="34" charset="0"/>
                </a:rPr>
                <a:t>sales@quectel.com </a:t>
              </a:r>
              <a:endParaRPr lang="zh-CN" altLang="zh-CN" sz="900" b="1" u="none" kern="1200">
                <a:solidFill>
                  <a:schemeClr val="bg1"/>
                </a:solidFill>
                <a:latin typeface="Arial" pitchFamily="34" charset="0"/>
                <a:ea typeface="宋体" pitchFamily="2" charset="-122"/>
                <a:cs typeface="Arial" panose="020B0604020202020204" pitchFamily="34" charset="0"/>
              </a:endParaRPr>
            </a:p>
            <a:p>
              <a:r>
                <a:rPr lang="zh-CN" altLang="en-US" sz="9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技术支持</a:t>
              </a:r>
              <a:r>
                <a:rPr lang="zh-CN" altLang="en-US" sz="900">
                  <a:solidFill>
                    <a:schemeClr val="bg1"/>
                  </a:solidFill>
                  <a:cs typeface="Arial" panose="020B0604020202020204" pitchFamily="34" charset="0"/>
                </a:rPr>
                <a:t>：</a:t>
              </a:r>
              <a:r>
                <a:rPr lang="en-US" altLang="zh-CN" sz="900" b="1">
                  <a:solidFill>
                    <a:schemeClr val="bg1"/>
                  </a:solidFill>
                  <a:cs typeface="Arial" panose="020B0604020202020204" pitchFamily="34" charset="0"/>
                </a:rPr>
                <a:t>support@quectel.com     </a:t>
              </a:r>
              <a:r>
                <a:rPr lang="zh-CN" altLang="en-US" sz="9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rPr>
                <a:t>电子邮件</a:t>
              </a:r>
              <a:r>
                <a:rPr lang="zh-CN" altLang="en-US" sz="900">
                  <a:solidFill>
                    <a:schemeClr val="bg1"/>
                  </a:solidFill>
                  <a:cs typeface="Arial" panose="020B0604020202020204" pitchFamily="34" charset="0"/>
                </a:rPr>
                <a:t>：</a:t>
              </a:r>
              <a:r>
                <a:rPr lang="en-US" altLang="zh-CN" sz="900" b="1">
                  <a:solidFill>
                    <a:schemeClr val="bg1"/>
                  </a:solidFill>
                  <a:cs typeface="Arial" panose="020B0604020202020204" pitchFamily="34" charset="0"/>
                </a:rPr>
                <a:t>info@quectel.com</a:t>
              </a:r>
              <a:r>
                <a:rPr lang="zh-CN" altLang="en-US" sz="900" b="1">
                  <a:solidFill>
                    <a:schemeClr val="bg1"/>
                  </a:solidFill>
                  <a:cs typeface="Arial" panose="020B0604020202020204" pitchFamily="34" charset="0"/>
                </a:rPr>
                <a:t> </a:t>
              </a:r>
              <a:endParaRPr lang="en-US" altLang="zh-CN" sz="900" b="1" u="sng">
                <a:solidFill>
                  <a:schemeClr val="bg1"/>
                </a:solidFill>
                <a:cs typeface="Arial" panose="020B0604020202020204" pitchFamily="34" charset="0"/>
              </a:endParaRPr>
            </a:p>
            <a:p>
              <a:r>
                <a:rPr lang="en-US" altLang="zh-CN" sz="9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 </a:t>
              </a:r>
              <a:endParaRPr lang="en-US" altLang="zh-CN" sz="900" b="1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8" name="Picture 21" descr="A close up of a logo&#10;&#10;Description automatically generated">
              <a:extLst>
                <a:ext uri="{FF2B5EF4-FFF2-40B4-BE49-F238E27FC236}">
                  <a16:creationId xmlns:a16="http://schemas.microsoft.com/office/drawing/2014/main" id="{8386BB90-3A95-514A-933F-AC1E38595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1000000">
              <a:off x="465386" y="4133296"/>
              <a:ext cx="3651365" cy="1726290"/>
            </a:xfrm>
            <a:prstGeom prst="rect">
              <a:avLst/>
            </a:prstGeom>
          </p:spPr>
        </p:pic>
        <p:pic>
          <p:nvPicPr>
            <p:cNvPr id="29" name="Picture 23">
              <a:extLst>
                <a:ext uri="{FF2B5EF4-FFF2-40B4-BE49-F238E27FC236}">
                  <a16:creationId xmlns:a16="http://schemas.microsoft.com/office/drawing/2014/main" id="{7E0EC4F9-DE4B-1F46-A540-7F0B8D583A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0171" y="260923"/>
              <a:ext cx="2874604" cy="973434"/>
            </a:xfrm>
            <a:prstGeom prst="rect">
              <a:avLst/>
            </a:prstGeom>
          </p:spPr>
        </p:pic>
        <p:pic>
          <p:nvPicPr>
            <p:cNvPr id="30" name="Picture 25">
              <a:extLst>
                <a:ext uri="{FF2B5EF4-FFF2-40B4-BE49-F238E27FC236}">
                  <a16:creationId xmlns:a16="http://schemas.microsoft.com/office/drawing/2014/main" id="{15FDA947-C2B9-6442-BB84-01C1F8C0F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8306" y="5594607"/>
              <a:ext cx="3018334" cy="1022106"/>
            </a:xfrm>
            <a:prstGeom prst="rect">
              <a:avLst/>
            </a:prstGeom>
          </p:spPr>
        </p:pic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D751A9FE-3380-A849-95CA-0BD8BCE06C45}"/>
                </a:ext>
              </a:extLst>
            </p:cNvPr>
            <p:cNvSpPr/>
            <p:nvPr/>
          </p:nvSpPr>
          <p:spPr>
            <a:xfrm>
              <a:off x="6203066" y="5363774"/>
              <a:ext cx="357020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全国热线</a:t>
              </a:r>
              <a:r>
                <a:rPr lang="en-US" altLang="zh-CN" sz="240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: 400 960 7678</a:t>
              </a:r>
              <a:endParaRPr lang="zh-CN" altLang="en-US" sz="2100">
                <a:solidFill>
                  <a:schemeClr val="bg1"/>
                </a:solidFill>
              </a:endParaRPr>
            </a:p>
          </p:txBody>
        </p:sp>
        <p:pic>
          <p:nvPicPr>
            <p:cNvPr id="32" name="Picture 2">
              <a:extLst>
                <a:ext uri="{FF2B5EF4-FFF2-40B4-BE49-F238E27FC236}">
                  <a16:creationId xmlns:a16="http://schemas.microsoft.com/office/drawing/2014/main" id="{4BDCE2DC-9A58-ED41-AAD2-0A87F567E5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0720087" y="5379871"/>
              <a:ext cx="958495" cy="958495"/>
            </a:xfrm>
            <a:prstGeom prst="rect">
              <a:avLst/>
            </a:prstGeom>
            <a:noFill/>
          </p:spPr>
        </p:pic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B970EC7C-C5A1-804A-BCFA-94BCE015D6AA}"/>
                </a:ext>
              </a:extLst>
            </p:cNvPr>
            <p:cNvSpPr/>
            <p:nvPr/>
          </p:nvSpPr>
          <p:spPr>
            <a:xfrm>
              <a:off x="10548807" y="6467636"/>
              <a:ext cx="1285884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100">
                  <a:solidFill>
                    <a:schemeClr val="bg1"/>
                  </a:solidFill>
                  <a:latin typeface="黑体" pitchFamily="2" charset="-122"/>
                  <a:ea typeface="黑体" pitchFamily="2" charset="-122"/>
                </a:rPr>
                <a:t>移远微信公众号</a:t>
              </a:r>
              <a:endParaRPr lang="zh-CN" altLang="en-US" sz="11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3761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文本占位符 8"/>
          <p:cNvSpPr>
            <a:spLocks noGrp="1"/>
          </p:cNvSpPr>
          <p:nvPr>
            <p:ph type="body" idx="1"/>
          </p:nvPr>
        </p:nvSpPr>
        <p:spPr bwMode="auto">
          <a:xfrm>
            <a:off x="436563" y="985838"/>
            <a:ext cx="11317287" cy="52371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5165" tIns="52583" rIns="105165" bIns="52583" numCol="1" anchor="t" anchorCtr="0" compatLnSpc="1"/>
          <a:lstStyle/>
          <a:p>
            <a:pPr lvl="0"/>
            <a:r>
              <a:rPr lang="de-DE" altLang="zh-CN" dirty="0"/>
              <a:t>Textmasterformate durch Klicken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  <a:p>
            <a:pPr lvl="4"/>
            <a:r>
              <a:rPr lang="de-DE" altLang="zh-CN" dirty="0"/>
              <a:t>Fünfte Ebene</a:t>
            </a:r>
          </a:p>
        </p:txBody>
      </p:sp>
      <p:pic>
        <p:nvPicPr>
          <p:cNvPr id="1027" name="Picture 5" descr="C:\Documents and Settings\Administrator\桌面\LOGOn.pn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9882188" y="500063"/>
            <a:ext cx="1925637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标题占位符 20"/>
          <p:cNvSpPr>
            <a:spLocks noGrp="1"/>
          </p:cNvSpPr>
          <p:nvPr>
            <p:ph type="title"/>
          </p:nvPr>
        </p:nvSpPr>
        <p:spPr bwMode="auto">
          <a:xfrm>
            <a:off x="344488" y="500836"/>
            <a:ext cx="11153775" cy="279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5165" tIns="52583" rIns="105165" bIns="52583" numCol="1" anchor="ctr" anchorCtr="0" compatLnSpc="1"/>
          <a:lstStyle/>
          <a:p>
            <a:pPr lvl="0"/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altLang="zh-CN" dirty="0"/>
          </a:p>
        </p:txBody>
      </p:sp>
      <p:sp>
        <p:nvSpPr>
          <p:cNvPr id="7" name="TextBox 5"/>
          <p:cNvSpPr txBox="1"/>
          <p:nvPr/>
        </p:nvSpPr>
        <p:spPr>
          <a:xfrm>
            <a:off x="426452" y="6490624"/>
            <a:ext cx="50456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defTabSz="1087120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542925" indent="-15875" algn="l" defTabSz="1087120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1087755" indent="-34925" algn="l" defTabSz="1087120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630680" indent="-52705" algn="l" defTabSz="1087120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2174875" indent="-71755" algn="l" defTabSz="1087120" rtl="0" fontAlgn="base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indent="0" algn="l" defTabSz="108712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@ Quectel Wireless Solutions | June, 2017 | Page </a:t>
            </a:r>
            <a:fld id="{0C913308-F349-4B6D-A68A-DD1791B4A57B}" type="slidenum">
              <a:rPr lang="zh-CN" altLang="en-US" sz="80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黑体" panose="02010609060101010101" pitchFamily="49" charset="-122"/>
                <a:cs typeface="Verdana" panose="020B0604030504040204" pitchFamily="34" charset="0"/>
              </a:rPr>
              <a:t>‹#›</a:t>
            </a:fld>
            <a:endParaRPr lang="zh-CN" altLang="en-US" sz="800">
              <a:solidFill>
                <a:schemeClr val="bg1">
                  <a:lumMod val="50000"/>
                </a:schemeClr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/>
  <p:txStyles>
    <p:titleStyle>
      <a:lvl1pPr algn="l" defTabSz="1087120" rtl="0" eaLnBrk="0" fontAlgn="base" hangingPunct="0">
        <a:spcBef>
          <a:spcPct val="0"/>
        </a:spcBef>
        <a:spcAft>
          <a:spcPct val="0"/>
        </a:spcAft>
        <a:tabLst>
          <a:tab pos="3676650" algn="l"/>
        </a:tabLst>
        <a:defRPr sz="2500" b="1" kern="1200">
          <a:solidFill>
            <a:srgbClr val="595959"/>
          </a:solidFill>
          <a:latin typeface="Verdana" panose="020B0604030504040204" pitchFamily="34" charset="0"/>
          <a:ea typeface="黑体" panose="02010609060101010101" pitchFamily="49" charset="-122"/>
          <a:cs typeface="+mj-cs"/>
        </a:defRPr>
      </a:lvl1pPr>
      <a:lvl2pPr algn="l" defTabSz="1087120" rtl="0" eaLnBrk="0" fontAlgn="base" hangingPunct="0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defTabSz="1087120" rtl="0" eaLnBrk="0" fontAlgn="base" hangingPunct="0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defTabSz="1087120" rtl="0" eaLnBrk="0" fontAlgn="base" hangingPunct="0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defTabSz="1087120" rtl="0" eaLnBrk="0" fontAlgn="base" hangingPunct="0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525780" algn="l" defTabSz="1087755" rtl="0" fontAlgn="base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1051560" algn="l" defTabSz="1087755" rtl="0" fontAlgn="base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577340" algn="l" defTabSz="1087755" rtl="0" fontAlgn="base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2103120" algn="l" defTabSz="1087755" rtl="0" fontAlgn="base">
        <a:spcBef>
          <a:spcPct val="0"/>
        </a:spcBef>
        <a:spcAft>
          <a:spcPct val="0"/>
        </a:spcAft>
        <a:defRPr sz="2500" b="1">
          <a:solidFill>
            <a:srgbClr val="595959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409575" indent="-409575" algn="l" defTabSz="1087120" rtl="0" eaLnBrk="0" fontAlgn="base" hangingPunct="0">
        <a:spcBef>
          <a:spcPts val="615"/>
        </a:spcBef>
        <a:spcAft>
          <a:spcPct val="0"/>
        </a:spcAft>
        <a:buFont typeface="Arial" panose="020B0604020202020204" pitchFamily="34" charset="0"/>
        <a:buChar char="•"/>
        <a:defRPr sz="3700" kern="1200">
          <a:solidFill>
            <a:srgbClr val="59595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27330" indent="-224155" algn="l" defTabSz="1087120" rtl="0" eaLnBrk="0" fontAlgn="base" hangingPunct="0">
        <a:spcBef>
          <a:spcPts val="615"/>
        </a:spcBef>
        <a:spcAft>
          <a:spcPct val="0"/>
        </a:spcAft>
        <a:buClr>
          <a:srgbClr val="FF0000"/>
        </a:buClr>
        <a:buSzPct val="120000"/>
        <a:buFont typeface="Arial" panose="020B0604020202020204" pitchFamily="34" charset="0"/>
        <a:buChar char="▪"/>
        <a:defRPr sz="3200" kern="1200">
          <a:solidFill>
            <a:srgbClr val="59595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43230" indent="-211455" algn="l" defTabSz="1087120" rtl="0" eaLnBrk="0" fontAlgn="base" hangingPunct="0">
        <a:spcBef>
          <a:spcPts val="515"/>
        </a:spcBef>
        <a:spcAft>
          <a:spcPct val="0"/>
        </a:spcAft>
        <a:buClr>
          <a:srgbClr val="7F7F7F"/>
        </a:buClr>
        <a:buSzPct val="120000"/>
        <a:buFont typeface="Arial" panose="020B0604020202020204" pitchFamily="34" charset="0"/>
        <a:buChar char="▪"/>
        <a:defRPr sz="1700" kern="1200">
          <a:solidFill>
            <a:srgbClr val="59595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59130" indent="-211455" algn="l" defTabSz="1087120" rtl="0" eaLnBrk="0" fontAlgn="base" hangingPunct="0">
        <a:spcBef>
          <a:spcPts val="515"/>
        </a:spcBef>
        <a:spcAft>
          <a:spcPct val="0"/>
        </a:spcAft>
        <a:buClr>
          <a:srgbClr val="7F7F7F"/>
        </a:buClr>
        <a:buSzPct val="120000"/>
        <a:buFont typeface="Arial" panose="020B0604020202020204" pitchFamily="34" charset="0"/>
        <a:buChar char="▪"/>
        <a:defRPr sz="1700" kern="1200">
          <a:solidFill>
            <a:srgbClr val="59595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79475" indent="-211455" algn="l" defTabSz="1087120" rtl="0" eaLnBrk="0" fontAlgn="base" hangingPunct="0">
        <a:spcBef>
          <a:spcPts val="515"/>
        </a:spcBef>
        <a:spcAft>
          <a:spcPct val="0"/>
        </a:spcAft>
        <a:buClr>
          <a:srgbClr val="7F7F7F"/>
        </a:buClr>
        <a:buSzPct val="120000"/>
        <a:buFont typeface="Arial" panose="020B0604020202020204" pitchFamily="34" charset="0"/>
        <a:buChar char="▪"/>
        <a:defRPr sz="1700" kern="1200">
          <a:solidFill>
            <a:srgbClr val="59595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17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36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4">
            <a:extLst>
              <a:ext uri="{FF2B5EF4-FFF2-40B4-BE49-F238E27FC236}">
                <a16:creationId xmlns:a16="http://schemas.microsoft.com/office/drawing/2014/main" id="{32EC3A89-9DBA-7D42-9118-921FCBD1A716}"/>
              </a:ext>
            </a:extLst>
          </p:cNvPr>
          <p:cNvSpPr txBox="1">
            <a:spLocks/>
          </p:cNvSpPr>
          <p:nvPr/>
        </p:nvSpPr>
        <p:spPr bwMode="auto">
          <a:xfrm>
            <a:off x="487425" y="2026298"/>
            <a:ext cx="7836666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1087438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3676650" algn="l"/>
              </a:tabLst>
              <a:defRPr sz="28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黑体" pitchFamily="2" charset="-122"/>
                <a:cs typeface="+mj-cs"/>
              </a:defRPr>
            </a:lvl1pPr>
            <a:lvl2pPr algn="l" defTabSz="1087438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charset="0"/>
                <a:ea typeface="宋体" charset="-122"/>
              </a:defRPr>
            </a:lvl2pPr>
            <a:lvl3pPr algn="l" defTabSz="1087438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charset="0"/>
                <a:ea typeface="宋体" charset="-122"/>
              </a:defRPr>
            </a:lvl3pPr>
            <a:lvl4pPr algn="l" defTabSz="1087438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charset="0"/>
                <a:ea typeface="宋体" charset="-122"/>
              </a:defRPr>
            </a:lvl4pPr>
            <a:lvl5pPr algn="l" defTabSz="1087438" rtl="0" eaLnBrk="0" fontAlgn="base" hangingPunct="0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charset="0"/>
                <a:ea typeface="宋体" charset="-122"/>
              </a:defRPr>
            </a:lvl5pPr>
            <a:lvl6pPr marL="525828" algn="l" defTabSz="1088171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charset="0"/>
                <a:ea typeface="宋体" charset="-122"/>
              </a:defRPr>
            </a:lvl6pPr>
            <a:lvl7pPr marL="1051655" algn="l" defTabSz="1088171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charset="0"/>
                <a:ea typeface="宋体" charset="-122"/>
              </a:defRPr>
            </a:lvl7pPr>
            <a:lvl8pPr marL="1577483" algn="l" defTabSz="1088171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charset="0"/>
                <a:ea typeface="宋体" charset="-122"/>
              </a:defRPr>
            </a:lvl8pPr>
            <a:lvl9pPr marL="2103311" algn="l" defTabSz="1088171" rtl="0" fontAlgn="base">
              <a:spcBef>
                <a:spcPct val="0"/>
              </a:spcBef>
              <a:spcAft>
                <a:spcPct val="0"/>
              </a:spcAft>
              <a:defRPr sz="2500" b="1">
                <a:solidFill>
                  <a:srgbClr val="595959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sz="4800" b="1" smtClean="0">
                <a:ln w="0"/>
                <a:solidFill>
                  <a:srgbClr val="F908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Android </a:t>
            </a:r>
            <a:r>
              <a:rPr lang="en-US" altLang="zh-CN" sz="4800" b="1" err="1" smtClean="0">
                <a:ln w="0"/>
                <a:solidFill>
                  <a:srgbClr val="F908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selinux</a:t>
            </a:r>
            <a:r>
              <a:rPr lang="zh-CN" altLang="en-US" sz="4800" b="1" smtClean="0">
                <a:ln w="0"/>
                <a:solidFill>
                  <a:srgbClr val="F9080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讲解与问题排查</a:t>
            </a:r>
            <a:endParaRPr lang="zh-CN" altLang="en-US" sz="4800" b="1">
              <a:ln w="0"/>
              <a:solidFill>
                <a:srgbClr val="F9080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9B6C1980-AC51-4476-A595-0552771853C8}"/>
              </a:ext>
            </a:extLst>
          </p:cNvPr>
          <p:cNvSpPr txBox="1"/>
          <p:nvPr/>
        </p:nvSpPr>
        <p:spPr>
          <a:xfrm>
            <a:off x="487424" y="5329174"/>
            <a:ext cx="6625997" cy="3692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400" smtClean="0">
                <a:ln w="0"/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刘建博</a:t>
            </a:r>
            <a:r>
              <a:rPr lang="en-US" altLang="zh-CN" sz="2400">
                <a:ln w="0"/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2400" smtClean="0">
                <a:ln w="0"/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软件六部</a:t>
            </a:r>
            <a:endParaRPr lang="zh-CN" altLang="en-US" sz="2400">
              <a:ln w="0"/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84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009613" y="2176949"/>
            <a:ext cx="4681577" cy="604774"/>
          </a:xfrm>
          <a:prstGeom prst="rect">
            <a:avLst/>
          </a:prstGeom>
          <a:solidFill>
            <a:srgbClr val="D60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87755" eaLnBrk="0" hangingPunct="0">
              <a:spcBef>
                <a:spcPts val="615"/>
              </a:spcBef>
              <a:defRPr/>
            </a:pPr>
            <a:r>
              <a:rPr lang="en-US" altLang="zh-CN" sz="2000" b="1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1. </a:t>
            </a:r>
            <a:r>
              <a:rPr lang="en-US" altLang="zh-CN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SELinux</a:t>
            </a:r>
            <a:r>
              <a:rPr lang="zh-CN" altLang="en-US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基础知识介绍</a:t>
            </a:r>
            <a:endParaRPr lang="zh-CN" altLang="en-US" sz="2000" b="1">
              <a:ln w="12700">
                <a:noFill/>
                <a:prstDash val="solid"/>
              </a:ln>
              <a:solidFill>
                <a:schemeClr val="bg1"/>
              </a:solidFill>
              <a:latin typeface="Verdana" panose="020B0604030504040204" pitchFamily="34" charset="0"/>
              <a:ea typeface="微软雅黑" panose="020B0503020204020204" pitchFamily="82" charset="2"/>
              <a:cs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09613" y="3725893"/>
            <a:ext cx="4681577" cy="545233"/>
          </a:xfrm>
          <a:prstGeom prst="rect">
            <a:avLst/>
          </a:prstGeom>
          <a:solidFill>
            <a:srgbClr val="D60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87755" eaLnBrk="0" hangingPunct="0">
              <a:spcBef>
                <a:spcPts val="615"/>
              </a:spcBef>
              <a:defRPr/>
            </a:pPr>
            <a:r>
              <a:rPr lang="en-US" altLang="zh-CN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3.</a:t>
            </a:r>
            <a:r>
              <a:rPr lang="zh-CN" altLang="en-US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如何解决常规</a:t>
            </a:r>
            <a:r>
              <a:rPr lang="en-US" altLang="zh-CN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SELinux</a:t>
            </a:r>
            <a:r>
              <a:rPr lang="zh-CN" altLang="en-US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问题</a:t>
            </a:r>
            <a:endParaRPr lang="zh-CN" altLang="en-US" sz="2000" b="1">
              <a:ln w="12700">
                <a:noFill/>
                <a:prstDash val="solid"/>
              </a:ln>
              <a:solidFill>
                <a:schemeClr val="bg1"/>
              </a:solidFill>
              <a:latin typeface="Verdana" panose="020B0604030504040204" pitchFamily="34" charset="0"/>
              <a:ea typeface="微软雅黑" panose="020B0503020204020204" pitchFamily="82" charset="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583478" y="3725893"/>
            <a:ext cx="4724810" cy="545233"/>
          </a:xfrm>
          <a:prstGeom prst="rect">
            <a:avLst/>
          </a:prstGeom>
          <a:solidFill>
            <a:srgbClr val="D60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ct val="60000"/>
              </a:spcBef>
              <a:buClr>
                <a:schemeClr val="accent1"/>
              </a:buClr>
              <a:buSzPct val="120000"/>
            </a:pPr>
            <a:r>
              <a:rPr lang="en-US" altLang="zh-CN" sz="2000" b="1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7</a:t>
            </a:r>
            <a:r>
              <a:rPr lang="en-US" altLang="zh-CN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. QA/Thank </a:t>
            </a:r>
            <a:r>
              <a:rPr lang="en-US" altLang="zh-CN" sz="2000" b="1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you</a:t>
            </a:r>
            <a:r>
              <a:rPr lang="zh-CN" altLang="en-US" sz="2000" b="1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矩形 12"/>
          <p:cNvSpPr/>
          <p:nvPr/>
        </p:nvSpPr>
        <p:spPr>
          <a:xfrm>
            <a:off x="6583478" y="2176949"/>
            <a:ext cx="4708552" cy="604774"/>
          </a:xfrm>
          <a:prstGeom prst="rect">
            <a:avLst/>
          </a:prstGeom>
          <a:solidFill>
            <a:srgbClr val="D60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87755" eaLnBrk="0" hangingPunct="0">
              <a:spcBef>
                <a:spcPts val="615"/>
              </a:spcBef>
              <a:defRPr/>
            </a:pPr>
            <a:r>
              <a:rPr lang="en-US" altLang="zh-CN" sz="2000" b="1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5</a:t>
            </a:r>
            <a:r>
              <a:rPr lang="en-US" altLang="zh-CN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. </a:t>
            </a:r>
            <a:r>
              <a:rPr lang="zh-CN" altLang="en-US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添加</a:t>
            </a:r>
            <a:r>
              <a:rPr lang="en-US" altLang="zh-CN" sz="2000" b="1" err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Sh</a:t>
            </a:r>
            <a:r>
              <a:rPr lang="zh-CN" altLang="en-US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脚本及遇到的权限问题</a:t>
            </a:r>
            <a:endParaRPr lang="zh-CN" altLang="en-US" sz="2000" b="1">
              <a:ln w="12700">
                <a:noFill/>
                <a:prstDash val="solid"/>
              </a:ln>
              <a:solidFill>
                <a:schemeClr val="bg1"/>
              </a:solidFill>
              <a:latin typeface="Verdana" panose="020B0604030504040204" pitchFamily="34" charset="0"/>
              <a:ea typeface="微软雅黑" panose="020B0503020204020204" pitchFamily="82" charset="2"/>
              <a:cs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24661" y="2957436"/>
            <a:ext cx="4666529" cy="616374"/>
          </a:xfrm>
          <a:prstGeom prst="rect">
            <a:avLst/>
          </a:prstGeom>
          <a:solidFill>
            <a:srgbClr val="D60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87755" eaLnBrk="0" hangingPunct="0">
              <a:spcBef>
                <a:spcPts val="615"/>
              </a:spcBef>
              <a:defRPr/>
            </a:pPr>
            <a:r>
              <a:rPr lang="en-US" altLang="zh-CN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2.</a:t>
            </a:r>
            <a:r>
              <a:rPr lang="zh-CN" altLang="en-US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什么情况下会遇到</a:t>
            </a:r>
            <a:r>
              <a:rPr lang="en-US" altLang="zh-CN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SELinux</a:t>
            </a:r>
            <a:r>
              <a:rPr lang="zh-CN" altLang="en-US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问题</a:t>
            </a:r>
            <a:endParaRPr lang="zh-CN" altLang="en-US" sz="2000" b="1">
              <a:ln w="12700">
                <a:noFill/>
                <a:prstDash val="solid"/>
              </a:ln>
              <a:solidFill>
                <a:schemeClr val="bg1"/>
              </a:solidFill>
              <a:latin typeface="Verdana" panose="020B0604030504040204" pitchFamily="34" charset="0"/>
              <a:ea typeface="微软雅黑" panose="020B0503020204020204" pitchFamily="82" charset="2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09613" y="4520033"/>
            <a:ext cx="4724074" cy="600106"/>
          </a:xfrm>
          <a:prstGeom prst="rect">
            <a:avLst/>
          </a:prstGeom>
          <a:solidFill>
            <a:srgbClr val="D60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1" hangingPunct="1">
              <a:spcBef>
                <a:spcPct val="60000"/>
              </a:spcBef>
              <a:buClr>
                <a:schemeClr val="accent1"/>
              </a:buClr>
              <a:buSzPct val="120000"/>
            </a:pPr>
            <a:r>
              <a:rPr lang="en-US" altLang="zh-CN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4.</a:t>
            </a:r>
            <a:r>
              <a:rPr lang="zh-CN" altLang="en-US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不同</a:t>
            </a:r>
            <a:r>
              <a:rPr lang="en-US" altLang="zh-CN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Android</a:t>
            </a:r>
            <a:r>
              <a:rPr lang="zh-CN" altLang="en-US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版本</a:t>
            </a:r>
            <a:r>
              <a:rPr lang="en-US" altLang="zh-CN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SELinux</a:t>
            </a:r>
            <a:r>
              <a:rPr lang="zh-CN" altLang="en-US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添加</a:t>
            </a:r>
            <a:endParaRPr lang="zh-CN" altLang="en-US" sz="2000" b="1">
              <a:ln w="12700">
                <a:noFill/>
                <a:prstDash val="solid"/>
              </a:ln>
              <a:solidFill>
                <a:schemeClr val="bg1"/>
              </a:solidFill>
              <a:latin typeface="Verdana" panose="020B0604030504040204" pitchFamily="34" charset="0"/>
              <a:ea typeface="微软雅黑" panose="020B0503020204020204" pitchFamily="82" charset="2"/>
              <a:cs typeface="Arial" panose="020B060402020202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567220" y="2957436"/>
            <a:ext cx="4724810" cy="616374"/>
          </a:xfrm>
          <a:prstGeom prst="rect">
            <a:avLst/>
          </a:prstGeom>
          <a:solidFill>
            <a:srgbClr val="D600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087755" eaLnBrk="0" hangingPunct="0">
              <a:spcBef>
                <a:spcPts val="615"/>
              </a:spcBef>
              <a:defRPr/>
            </a:pPr>
            <a:r>
              <a:rPr lang="en-US" altLang="zh-CN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6.SELinux</a:t>
            </a:r>
            <a:r>
              <a:rPr lang="zh-CN" altLang="en-US" sz="2000" b="1" smtClean="0">
                <a:ln w="12700">
                  <a:noFill/>
                  <a:prstDash val="solid"/>
                </a:ln>
                <a:solidFill>
                  <a:schemeClr val="bg1"/>
                </a:solidFill>
                <a:latin typeface="Verdana" panose="020B0604030504040204" pitchFamily="34" charset="0"/>
                <a:ea typeface="微软雅黑" panose="020B0503020204020204" pitchFamily="82" charset="2"/>
                <a:cs typeface="Arial" panose="020B0604020202020204" pitchFamily="34" charset="0"/>
              </a:rPr>
              <a:t>进阶及问题案例</a:t>
            </a:r>
            <a:endParaRPr lang="zh-CN" altLang="en-US" sz="2000" b="1">
              <a:ln w="12700">
                <a:noFill/>
                <a:prstDash val="solid"/>
              </a:ln>
              <a:solidFill>
                <a:schemeClr val="bg1"/>
              </a:solidFill>
              <a:latin typeface="Verdana" panose="020B0604030504040204" pitchFamily="34" charset="0"/>
              <a:ea typeface="微软雅黑" panose="020B0503020204020204" pitchFamily="82" charset="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mtClean="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基础知识介绍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sp>
        <p:nvSpPr>
          <p:cNvPr id="3" name="AutoShape 2" descr="https://upload-images.jianshu.io/upload_images/3633065-9927d5555856f8fc.png?imageMogr2/auto-orient/strip|imageView2/2/w/915/format/webp"/>
          <p:cNvSpPr>
            <a:spLocks noChangeAspect="1" noChangeArrowheads="1"/>
          </p:cNvSpPr>
          <p:nvPr/>
        </p:nvSpPr>
        <p:spPr bwMode="auto">
          <a:xfrm>
            <a:off x="155574" y="-144463"/>
            <a:ext cx="5507583" cy="550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https://upload-images.jianshu.io/upload_images/3633065-9927d5555856f8fc.png?imageMogr2/auto-orient/strip|imageView2/2/w/915/format/webp"/>
          <p:cNvSpPr>
            <a:spLocks noChangeAspect="1" noChangeArrowheads="1"/>
          </p:cNvSpPr>
          <p:nvPr/>
        </p:nvSpPr>
        <p:spPr bwMode="auto">
          <a:xfrm>
            <a:off x="1702718" y="1773610"/>
            <a:ext cx="4104456" cy="4104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6" descr="https://upload-images.jianshu.io/upload_images/3633065-9927d5555856f8fc.png?imageMogr2/auto-orient/strip|imageView2/2/w/915/format/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748983"/>
              </p:ext>
            </p:extLst>
          </p:nvPr>
        </p:nvGraphicFramePr>
        <p:xfrm>
          <a:off x="647310" y="1341562"/>
          <a:ext cx="10272432" cy="4536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2432">
                  <a:extLst>
                    <a:ext uri="{9D8B030D-6E8A-4147-A177-3AD203B41FA5}">
                      <a16:colId xmlns:a16="http://schemas.microsoft.com/office/drawing/2014/main" val="1654876031"/>
                    </a:ext>
                  </a:extLst>
                </a:gridCol>
              </a:tblGrid>
              <a:tr h="487991">
                <a:tc>
                  <a:txBody>
                    <a:bodyPr/>
                    <a:lstStyle/>
                    <a:p>
                      <a:pPr marL="0" marR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smtClean="0"/>
                        <a:t>DAC</a:t>
                      </a:r>
                      <a:r>
                        <a:rPr lang="zh-CN" altLang="en-US" b="1" smtClean="0"/>
                        <a:t>和</a:t>
                      </a:r>
                      <a:r>
                        <a:rPr lang="en-US" altLang="zh-CN" b="1" smtClean="0"/>
                        <a:t>MAC</a:t>
                      </a:r>
                      <a:r>
                        <a:rPr lang="zh-CN" altLang="en-US" b="1" smtClean="0"/>
                        <a:t>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637335"/>
                  </a:ext>
                </a:extLst>
              </a:tr>
              <a:tr h="1554340">
                <a:tc>
                  <a:txBody>
                    <a:bodyPr/>
                    <a:lstStyle/>
                    <a:p>
                      <a:r>
                        <a:rPr lang="en-US" altLang="zh-CN" sz="2000" smtClean="0"/>
                        <a:t>     SELinux</a:t>
                      </a:r>
                      <a:r>
                        <a:rPr lang="zh-CN" altLang="en-US" sz="2000" smtClean="0"/>
                        <a:t>出现之前，</a:t>
                      </a:r>
                      <a:r>
                        <a:rPr lang="en-US" altLang="zh-CN" sz="2000" smtClean="0"/>
                        <a:t>Linux</a:t>
                      </a:r>
                      <a:r>
                        <a:rPr lang="zh-CN" altLang="en-US" sz="2000" smtClean="0"/>
                        <a:t>上的安全模型叫</a:t>
                      </a:r>
                      <a:r>
                        <a:rPr lang="en-US" altLang="zh-CN" sz="2000" smtClean="0"/>
                        <a:t>DAC</a:t>
                      </a:r>
                      <a:r>
                        <a:rPr lang="zh-CN" altLang="en-US" sz="2000" smtClean="0"/>
                        <a:t>，全称是</a:t>
                      </a:r>
                      <a:r>
                        <a:rPr lang="en-US" altLang="zh-CN" sz="2000" smtClean="0"/>
                        <a:t>Discretionary Access Control</a:t>
                      </a:r>
                      <a:r>
                        <a:rPr lang="zh-CN" altLang="en-US" sz="2000" smtClean="0"/>
                        <a:t>，翻译为自主访问控制。</a:t>
                      </a:r>
                      <a:r>
                        <a:rPr lang="en-US" altLang="zh-CN" sz="2000" smtClean="0"/>
                        <a:t>DAC</a:t>
                      </a:r>
                      <a:r>
                        <a:rPr lang="zh-CN" altLang="en-US" sz="2000" smtClean="0"/>
                        <a:t>的核心思想就是：进程理论上所拥有的权限与执行它的用户的权限相同。比如，以</a:t>
                      </a:r>
                      <a:r>
                        <a:rPr lang="en-US" altLang="zh-CN" sz="2000" smtClean="0"/>
                        <a:t>root</a:t>
                      </a:r>
                      <a:r>
                        <a:rPr lang="zh-CN" altLang="en-US" sz="2000" smtClean="0"/>
                        <a:t>用户启动</a:t>
                      </a:r>
                      <a:r>
                        <a:rPr lang="en-US" altLang="zh-CN" sz="2000" smtClean="0"/>
                        <a:t>Browser</a:t>
                      </a:r>
                      <a:r>
                        <a:rPr lang="zh-CN" altLang="en-US" sz="2000" smtClean="0"/>
                        <a:t>，那么</a:t>
                      </a:r>
                      <a:r>
                        <a:rPr lang="en-US" altLang="zh-CN" sz="2000" smtClean="0"/>
                        <a:t>Browser</a:t>
                      </a:r>
                      <a:r>
                        <a:rPr lang="zh-CN" altLang="en-US" sz="2000" smtClean="0"/>
                        <a:t>就有</a:t>
                      </a:r>
                      <a:r>
                        <a:rPr lang="en-US" altLang="zh-CN" sz="2000" smtClean="0"/>
                        <a:t>root</a:t>
                      </a:r>
                      <a:r>
                        <a:rPr lang="zh-CN" altLang="en-US" sz="2000" smtClean="0"/>
                        <a:t>用户的权限，在</a:t>
                      </a:r>
                      <a:r>
                        <a:rPr lang="en-US" altLang="zh-CN" sz="2000" smtClean="0"/>
                        <a:t>Linux</a:t>
                      </a:r>
                      <a:r>
                        <a:rPr lang="zh-CN" altLang="en-US" sz="2000" smtClean="0"/>
                        <a:t>系统上能干任何事情。</a:t>
                      </a:r>
                      <a:endParaRPr lang="en-US" altLang="zh-CN" sz="200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921202"/>
                  </a:ext>
                </a:extLst>
              </a:tr>
              <a:tr h="1247087">
                <a:tc>
                  <a:txBody>
                    <a:bodyPr/>
                    <a:lstStyle/>
                    <a:p>
                      <a:pPr marL="0" algn="l" defTabSz="1088390" rtl="0" eaLnBrk="1" latinLnBrk="0" hangingPunct="1"/>
                      <a:r>
                        <a:rPr lang="en-US" altLang="zh-CN" sz="2100" kern="1200" baseline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zh-CN" sz="21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DAC</a:t>
                      </a:r>
                      <a:r>
                        <a:rPr lang="zh-CN" altLang="en-US" sz="21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的限制过于宽松，在</a:t>
                      </a:r>
                      <a:r>
                        <a:rPr lang="en-US" altLang="zh-CN" sz="21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Android</a:t>
                      </a:r>
                      <a:r>
                        <a:rPr lang="zh-CN" altLang="en-US" sz="21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系统上只要获取到</a:t>
                      </a:r>
                      <a:r>
                        <a:rPr lang="en-US" altLang="zh-CN" sz="21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root</a:t>
                      </a:r>
                      <a:r>
                        <a:rPr lang="zh-CN" altLang="en-US" sz="21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权限，就可以为所欲为。</a:t>
                      </a:r>
                      <a:endParaRPr lang="en-US" altLang="zh-CN" sz="2100" kern="120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1088390" rtl="0" eaLnBrk="1" latinLnBrk="0" hangingPunct="1"/>
                      <a:r>
                        <a:rPr lang="zh-CN" altLang="en-US" sz="21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后来</a:t>
                      </a:r>
                      <a:r>
                        <a:rPr lang="en-US" altLang="zh-CN" sz="21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Selinux</a:t>
                      </a:r>
                      <a:r>
                        <a:rPr lang="zh-CN" altLang="en-US" sz="21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在</a:t>
                      </a:r>
                      <a:r>
                        <a:rPr lang="en-US" altLang="zh-CN" sz="21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DAC</a:t>
                      </a:r>
                      <a:r>
                        <a:rPr lang="zh-CN" altLang="en-US" sz="21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之外，设计了一个新的安全模型，叫</a:t>
                      </a:r>
                      <a:r>
                        <a:rPr lang="en-US" altLang="zh-CN" sz="21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MAC</a:t>
                      </a:r>
                      <a:r>
                        <a:rPr lang="zh-CN" altLang="en-US" sz="21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21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Mandatory Access Control</a:t>
                      </a:r>
                      <a:r>
                        <a:rPr lang="zh-CN" altLang="en-US" sz="21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），翻译为强制访问控制。</a:t>
                      </a:r>
                      <a:endParaRPr lang="en-US" altLang="zh-CN" sz="2100" kern="120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627620"/>
                  </a:ext>
                </a:extLst>
              </a:tr>
              <a:tr h="1247087">
                <a:tc>
                  <a:txBody>
                    <a:bodyPr/>
                    <a:lstStyle/>
                    <a:p>
                      <a:r>
                        <a:rPr lang="en-US" altLang="zh-CN" smtClean="0"/>
                        <a:t>    MAC</a:t>
                      </a:r>
                      <a:r>
                        <a:rPr lang="zh-CN" altLang="en-US" smtClean="0"/>
                        <a:t>的逻辑非常简单：即任何进程想在</a:t>
                      </a:r>
                      <a:r>
                        <a:rPr lang="en-US" altLang="zh-CN" smtClean="0"/>
                        <a:t>SELinux</a:t>
                      </a:r>
                      <a:r>
                        <a:rPr lang="zh-CN" altLang="en-US" smtClean="0"/>
                        <a:t>系统中干任何事情，都必须先在安全策略配置文件中赋予权限。凡是没有出现在安全策略配置文件中的权限，进程就没有该权限。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351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617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mtClean="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基础知识介绍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sp>
        <p:nvSpPr>
          <p:cNvPr id="3" name="AutoShape 2" descr="https://upload-images.jianshu.io/upload_images/3633065-9927d5555856f8fc.png?imageMogr2/auto-orient/strip|imageView2/2/w/915/format/webp"/>
          <p:cNvSpPr>
            <a:spLocks noChangeAspect="1" noChangeArrowheads="1"/>
          </p:cNvSpPr>
          <p:nvPr/>
        </p:nvSpPr>
        <p:spPr bwMode="auto">
          <a:xfrm>
            <a:off x="155574" y="-144463"/>
            <a:ext cx="5507583" cy="550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https://upload-images.jianshu.io/upload_images/3633065-9927d5555856f8fc.png?imageMogr2/auto-orient/strip|imageView2/2/w/915/format/webp"/>
          <p:cNvSpPr>
            <a:spLocks noChangeAspect="1" noChangeArrowheads="1"/>
          </p:cNvSpPr>
          <p:nvPr/>
        </p:nvSpPr>
        <p:spPr bwMode="auto">
          <a:xfrm>
            <a:off x="1702718" y="1773610"/>
            <a:ext cx="4104456" cy="4104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6" descr="https://upload-images.jianshu.io/upload_images/3633065-9927d5555856f8fc.png?imageMogr2/auto-orient/strip|imageView2/2/w/915/format/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11008" y="1069055"/>
            <a:ext cx="192071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9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/>
              <a:t>DAC</a:t>
            </a:r>
            <a:r>
              <a:rPr lang="zh-CN" altLang="en-US" b="1"/>
              <a:t>和</a:t>
            </a:r>
            <a:r>
              <a:rPr lang="en-US" altLang="zh-CN" b="1"/>
              <a:t>MAC</a:t>
            </a:r>
            <a:r>
              <a:rPr lang="zh-CN" altLang="en-US" b="1"/>
              <a:t>：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98" y="1880295"/>
            <a:ext cx="10754982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136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0547" y="433175"/>
            <a:ext cx="11062648" cy="432048"/>
          </a:xfrm>
        </p:spPr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>
                <a:latin typeface="黑体" panose="02010609060101010101" pitchFamily="49" charset="-122"/>
              </a:rPr>
              <a:t>基础知识介绍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36563" y="649199"/>
            <a:ext cx="1847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966" y="1849527"/>
            <a:ext cx="8424936" cy="409796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60101" y="1149626"/>
            <a:ext cx="2452916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2E2E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Selinux</a:t>
            </a:r>
            <a:r>
              <a:rPr lang="zh-CN" altLang="en-US">
                <a:solidFill>
                  <a:srgbClr val="2E2E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</a:t>
            </a:r>
            <a:r>
              <a:rPr lang="zh-CN" altLang="en-US" smtClean="0">
                <a:solidFill>
                  <a:srgbClr val="2E2E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原理：</a:t>
            </a:r>
            <a:endParaRPr lang="zh-CN" altLang="en-US" i="0">
              <a:solidFill>
                <a:srgbClr val="2E2E2E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0033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0547" y="433175"/>
            <a:ext cx="11062648" cy="432048"/>
          </a:xfrm>
        </p:spPr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>
                <a:latin typeface="黑体" panose="02010609060101010101" pitchFamily="49" charset="-122"/>
              </a:rPr>
              <a:t>基础知识介绍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36563" y="649199"/>
            <a:ext cx="1847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img-blog.csdnimg.cn/8bc51d8dd5e44ac1a507f543fc4255a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12" y="1249363"/>
            <a:ext cx="10725695" cy="178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369908"/>
              </p:ext>
            </p:extLst>
          </p:nvPr>
        </p:nvGraphicFramePr>
        <p:xfrm>
          <a:off x="452887" y="3141762"/>
          <a:ext cx="1071034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0344">
                  <a:extLst>
                    <a:ext uri="{9D8B030D-6E8A-4147-A177-3AD203B41FA5}">
                      <a16:colId xmlns:a16="http://schemas.microsoft.com/office/drawing/2014/main" val="3249150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KK 4.4 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针对</a:t>
                      </a:r>
                      <a:r>
                        <a:rPr lang="en-US" altLang="zh-CN" sz="2100" b="0" i="0" kern="120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netd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CN" sz="2100" b="0" i="0" kern="120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installd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zygote, </a:t>
                      </a:r>
                      <a:r>
                        <a:rPr lang="en-US" altLang="zh-CN" sz="2100" b="0" i="0" kern="120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vold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四个原本具有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root 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权限的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，以及它们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fork 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出的子进程启用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Enforce 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模式。 </a:t>
                      </a:r>
                      <a:endParaRPr lang="en-US" altLang="zh-CN" sz="2100" b="0" i="0" kern="120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zh-CN" sz="2100" b="0" i="0" kern="120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 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版本普遍性开启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SELinux Enforce mode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 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Permissive 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模式，只打印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audit 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异常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，不拒绝请求；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Enforce 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模式，既打印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audit 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异常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，也拒绝请求。</a:t>
                      </a:r>
                      <a:endParaRPr lang="en-US" altLang="zh-CN" sz="2100" b="0" i="0" kern="120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altLang="zh-CN" sz="2100" b="0" i="0" kern="120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 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版本开始的后续版本，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Google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都会要求强制性开启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SELinux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，以保证手机安全。</a:t>
                      </a:r>
                      <a:endParaRPr lang="en-US" altLang="zh-CN" sz="2100" b="0" i="0" kern="120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altLang="zh-CN" sz="2100" b="0" i="0" kern="120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版本后，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Google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大幅度地增强了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SELinux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的限制，特别是限制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System/Vendor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之间的交叉使用，如</a:t>
                      </a:r>
                      <a:r>
                        <a:rPr lang="en-US" altLang="zh-CN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VNDK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zh-CN" altLang="en-US" sz="2100" b="0" i="0" u="none" strike="noStrike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权限控制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就主要由</a:t>
                      </a:r>
                      <a:r>
                        <a:rPr lang="en-US" altLang="zh-CN" sz="2100" b="0" i="0" kern="120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selinux</a:t>
                      </a:r>
                      <a:r>
                        <a:rPr lang="zh-CN" altLang="en-US" sz="2100" b="0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来控制。</a:t>
                      </a:r>
                      <a:endParaRPr lang="zh-CN" altLang="en-US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5818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5249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>
                <a:latin typeface="黑体" panose="02010609060101010101" pitchFamily="49" charset="-122"/>
              </a:rPr>
              <a:t>基础知识</a:t>
            </a:r>
            <a:r>
              <a:rPr lang="zh-CN" altLang="en-US" sz="2800" smtClean="0">
                <a:latin typeface="黑体" panose="02010609060101010101" pitchFamily="49" charset="-122"/>
              </a:rPr>
              <a:t>介绍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023418"/>
              </p:ext>
            </p:extLst>
          </p:nvPr>
        </p:nvGraphicFramePr>
        <p:xfrm>
          <a:off x="550590" y="1269554"/>
          <a:ext cx="4207487" cy="4370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7487">
                  <a:extLst>
                    <a:ext uri="{9D8B030D-6E8A-4147-A177-3AD203B41FA5}">
                      <a16:colId xmlns:a16="http://schemas.microsoft.com/office/drawing/2014/main" val="3255814335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r>
                        <a:rPr lang="en-US" altLang="zh-CN" err="1" smtClean="0"/>
                        <a:t>SEAndroid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500394"/>
                  </a:ext>
                </a:extLst>
              </a:tr>
              <a:tr h="3866915">
                <a:tc>
                  <a:txBody>
                    <a:bodyPr/>
                    <a:lstStyle/>
                    <a:p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SEAndroid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在架构和机制上与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SELinux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完全一样，考虑到移动设备的特点，所以移植到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SEAndroid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的只是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SELinux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的一个子集。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SEAndroid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的安全检查覆盖了所有重要的方面包括了域转换、类型转换、进程相关操作、内核相关操作、文件目录相关操作、文件系统相关操作、对设备相关操作、对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相关操作、对网络相关操作、对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IPC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相关操作。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68805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525310"/>
              </p:ext>
            </p:extLst>
          </p:nvPr>
        </p:nvGraphicFramePr>
        <p:xfrm>
          <a:off x="4943078" y="1269554"/>
          <a:ext cx="6007687" cy="2664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7687">
                  <a:extLst>
                    <a:ext uri="{9D8B030D-6E8A-4147-A177-3AD203B41FA5}">
                      <a16:colId xmlns:a16="http://schemas.microsoft.com/office/drawing/2014/main" val="1564049957"/>
                    </a:ext>
                  </a:extLst>
                </a:gridCol>
              </a:tblGrid>
              <a:tr h="532859">
                <a:tc>
                  <a:txBody>
                    <a:bodyPr/>
                    <a:lstStyle/>
                    <a:p>
                      <a:r>
                        <a:rPr lang="en-US" altLang="zh-CN" err="1" smtClean="0"/>
                        <a:t>SEAndroid</a:t>
                      </a:r>
                      <a:r>
                        <a:rPr lang="en-US" altLang="zh-CN" smtClean="0"/>
                        <a:t>-app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923133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untrusted_app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一般是第三方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036235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platform_app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带签名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182019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system_app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带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权限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91825"/>
                  </a:ext>
                </a:extLst>
              </a:tr>
              <a:tr h="532859">
                <a:tc>
                  <a:txBody>
                    <a:bodyPr/>
                    <a:lstStyle/>
                    <a:p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priv_app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         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priv_app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目录下的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880273"/>
                  </a:ext>
                </a:extLst>
              </a:tr>
            </a:tbl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078" y="4293889"/>
            <a:ext cx="6007687" cy="134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74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6056" y="405458"/>
            <a:ext cx="11062648" cy="432048"/>
          </a:xfrm>
        </p:spPr>
        <p:txBody>
          <a:bodyPr/>
          <a:lstStyle/>
          <a:p>
            <a:r>
              <a:rPr lang="zh-CN" altLang="en-US" sz="2800" smtClean="0">
                <a:latin typeface="黑体" panose="02010609060101010101" pitchFamily="49" charset="-122"/>
              </a:rPr>
              <a:t>什么情况下会遇到</a:t>
            </a:r>
            <a:r>
              <a:rPr lang="en-US" altLang="zh-CN" sz="2800" smtClean="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问题：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87229" y="1485577"/>
            <a:ext cx="10592554" cy="3960000"/>
            <a:chOff x="527456" y="1485577"/>
            <a:chExt cx="10817545" cy="396000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41422227-C303-FE42-B8B4-BF037FF8C1A0}"/>
                </a:ext>
              </a:extLst>
            </p:cNvPr>
            <p:cNvSpPr/>
            <p:nvPr/>
          </p:nvSpPr>
          <p:spPr>
            <a:xfrm>
              <a:off x="527456" y="1485577"/>
              <a:ext cx="8129018" cy="396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sz="2800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BAD6EB2-D076-094F-8141-F941FC2955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656474" y="1485577"/>
              <a:ext cx="2688527" cy="3960000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AD21CF8-B996-45F1-8837-1775752F65AC}"/>
                </a:ext>
              </a:extLst>
            </p:cNvPr>
            <p:cNvSpPr/>
            <p:nvPr/>
          </p:nvSpPr>
          <p:spPr>
            <a:xfrm>
              <a:off x="838622" y="2164866"/>
              <a:ext cx="7128792" cy="29669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913256">
                <a:lnSpc>
                  <a:spcPct val="120000"/>
                </a:lnSpc>
                <a:spcAft>
                  <a:spcPts val="2000"/>
                </a:spcAft>
                <a:defRPr/>
              </a:pPr>
              <a:r>
                <a:rPr lang="en-US" altLang="zh-CN" sz="200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ource Han Sans SC"/>
                </a:rPr>
                <a:t>1</a:t>
              </a:r>
              <a:r>
                <a:rPr lang="zh-CN" altLang="en-US" sz="200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ource Han Sans SC"/>
                </a:rPr>
                <a:t>，新的功能需要访问设备内容：新增节点、新增开机动画，读取节点，访问文件内容</a:t>
              </a:r>
              <a:endPara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Source Han Sans SC"/>
              </a:endParaRPr>
            </a:p>
            <a:p>
              <a:pPr algn="just" defTabSz="913256">
                <a:lnSpc>
                  <a:spcPct val="120000"/>
                </a:lnSpc>
                <a:spcAft>
                  <a:spcPts val="2000"/>
                </a:spcAft>
                <a:defRPr/>
              </a:pPr>
              <a:r>
                <a:rPr lang="en-US" altLang="zh-CN" sz="200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ource Han Sans SC"/>
                </a:rPr>
                <a:t>2</a:t>
              </a:r>
              <a:r>
                <a:rPr lang="zh-CN" altLang="en-US" sz="200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ource Han Sans SC"/>
                </a:rPr>
                <a:t>，常见定制功能：上层访问</a:t>
              </a:r>
              <a:r>
                <a:rPr lang="en-US" altLang="zh-CN" sz="200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ource Han Sans SC"/>
                </a:rPr>
                <a:t>gpio</a:t>
              </a:r>
              <a:r>
                <a:rPr lang="zh-CN" altLang="en-US" sz="200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ource Han Sans SC"/>
                </a:rPr>
                <a:t>、上层收发</a:t>
              </a:r>
              <a:r>
                <a:rPr lang="en-US" altLang="zh-CN" sz="200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ource Han Sans SC"/>
                </a:rPr>
                <a:t>AT</a:t>
              </a:r>
              <a:r>
                <a:rPr lang="zh-CN" altLang="en-US" sz="200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ource Han Sans SC"/>
                </a:rPr>
                <a:t>指令、内置</a:t>
              </a:r>
              <a:r>
                <a:rPr lang="en-US" altLang="zh-CN" sz="200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ource Han Sans SC"/>
                </a:rPr>
                <a:t>shell</a:t>
              </a:r>
              <a:r>
                <a:rPr lang="zh-CN" altLang="en-US" sz="200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ource Han Sans SC"/>
                </a:rPr>
                <a:t>脚本等</a:t>
              </a:r>
              <a:endPara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Source Han Sans SC"/>
              </a:endParaRPr>
            </a:p>
            <a:p>
              <a:pPr algn="just" defTabSz="913256">
                <a:lnSpc>
                  <a:spcPct val="120000"/>
                </a:lnSpc>
                <a:spcAft>
                  <a:spcPts val="2000"/>
                </a:spcAft>
                <a:defRPr/>
              </a:pPr>
              <a:r>
                <a:rPr lang="en-US" altLang="zh-CN" sz="200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ource Han Sans SC"/>
                </a:rPr>
                <a:t>3</a:t>
              </a:r>
              <a:r>
                <a:rPr lang="zh-CN" altLang="en-US" sz="200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ource Han Sans SC"/>
                </a:rPr>
                <a:t>，</a:t>
              </a:r>
              <a:r>
                <a:rPr lang="en-US" altLang="zh-CN" sz="200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ource Han Sans SC"/>
                </a:rPr>
                <a:t>GMS</a:t>
              </a:r>
              <a:r>
                <a:rPr lang="zh-CN" altLang="en-US" sz="200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ource Han Sans SC"/>
                </a:rPr>
                <a:t>问题，功能移植，</a:t>
              </a:r>
              <a:r>
                <a:rPr lang="en-US" altLang="zh-CN" sz="200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ource Han Sans SC"/>
                </a:rPr>
                <a:t>Android</a:t>
              </a:r>
              <a:r>
                <a:rPr lang="zh-CN" altLang="en-US" sz="200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ource Han Sans SC"/>
                </a:rPr>
                <a:t>版本切换，客户应用需求等</a:t>
              </a:r>
              <a:endPara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Source Han Sans SC"/>
              </a:endParaRPr>
            </a:p>
            <a:p>
              <a:pPr algn="just" defTabSz="913256">
                <a:lnSpc>
                  <a:spcPct val="120000"/>
                </a:lnSpc>
                <a:spcAft>
                  <a:spcPts val="2000"/>
                </a:spcAft>
                <a:defRPr/>
              </a:pPr>
              <a:endPara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Source Han Sans SC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52A54D1-0348-4774-A260-B122BAF3B099}"/>
                </a:ext>
              </a:extLst>
            </p:cNvPr>
            <p:cNvSpPr/>
            <p:nvPr/>
          </p:nvSpPr>
          <p:spPr>
            <a:xfrm>
              <a:off x="834131" y="1557388"/>
              <a:ext cx="3096038" cy="3804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913256">
                <a:lnSpc>
                  <a:spcPct val="120000"/>
                </a:lnSpc>
                <a:defRPr/>
              </a:pPr>
              <a:r>
                <a:rPr lang="zh-CN" altLang="en-US" sz="1799" smtClean="0">
                  <a:solidFill>
                    <a:srgbClr val="FA0505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Source Han Sans SC"/>
                </a:rPr>
                <a:t>常见情景：</a:t>
              </a:r>
              <a:endParaRPr lang="zh-CN" altLang="en-US" sz="1799">
                <a:solidFill>
                  <a:srgbClr val="FA0505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ource Han Sans SC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993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mtClean="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问题解决</a:t>
            </a:r>
            <a:endParaRPr sz="2800">
              <a:latin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798" y="1197546"/>
            <a:ext cx="686752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48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mtClean="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常规问题解决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180581"/>
              </p:ext>
            </p:extLst>
          </p:nvPr>
        </p:nvGraphicFramePr>
        <p:xfrm>
          <a:off x="436056" y="1341562"/>
          <a:ext cx="10801200" cy="3976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r>
                        <a:rPr lang="en-US" altLang="zh-CN" smtClean="0"/>
                        <a:t>Selinux</a:t>
                      </a:r>
                      <a:r>
                        <a:rPr lang="zh-CN" altLang="en-US" smtClean="0"/>
                        <a:t>报错</a:t>
                      </a:r>
                      <a:r>
                        <a:rPr lang="en-US" altLang="zh-CN" smtClean="0"/>
                        <a:t>log</a:t>
                      </a:r>
                      <a:r>
                        <a:rPr lang="zh-CN" altLang="en-US" smtClean="0"/>
                        <a:t>示例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3328703">
                <a:tc>
                  <a:txBody>
                    <a:bodyPr/>
                    <a:lstStyle/>
                    <a:p>
                      <a:endParaRPr lang="en-US" altLang="zh-CN" smtClean="0"/>
                    </a:p>
                    <a:p>
                      <a:r>
                        <a:rPr lang="zh-CN" altLang="en-US" smtClean="0"/>
                        <a:t>错误关键字：</a:t>
                      </a:r>
                      <a:r>
                        <a:rPr lang="en-US" altLang="zh-CN" smtClean="0"/>
                        <a:t>avc: </a:t>
                      </a:r>
                    </a:p>
                    <a:p>
                      <a:endParaRPr lang="en-US" altLang="zh-CN" smtClean="0"/>
                    </a:p>
                    <a:p>
                      <a:r>
                        <a:rPr lang="en-US" altLang="zh-CN" smtClean="0"/>
                        <a:t>02-28 09:02:54.787  3517  3517 I mystart.sh: type=1400 audit(0.0:1729): avc: denied { </a:t>
                      </a:r>
                      <a:r>
                        <a:rPr lang="en-US" altLang="zh-CN" smtClean="0">
                          <a:solidFill>
                            <a:srgbClr val="FF0000"/>
                          </a:solidFill>
                        </a:rPr>
                        <a:t>search</a:t>
                      </a:r>
                      <a:r>
                        <a:rPr lang="en-US" altLang="zh-CN" smtClean="0"/>
                        <a:t> } for name="</a:t>
                      </a:r>
                      <a:r>
                        <a:rPr lang="en-US" altLang="zh-CN" err="1" smtClean="0"/>
                        <a:t>tmp</a:t>
                      </a:r>
                      <a:r>
                        <a:rPr lang="en-US" altLang="zh-CN" smtClean="0"/>
                        <a:t>" dev="dm-5" </a:t>
                      </a:r>
                      <a:r>
                        <a:rPr lang="en-US" altLang="zh-CN" err="1" smtClean="0"/>
                        <a:t>ino</a:t>
                      </a:r>
                      <a:r>
                        <a:rPr lang="en-US" altLang="zh-CN" smtClean="0"/>
                        <a:t>=108 </a:t>
                      </a:r>
                      <a:r>
                        <a:rPr lang="en-US" altLang="zh-CN" smtClean="0">
                          <a:solidFill>
                            <a:srgbClr val="FF0000"/>
                          </a:solidFill>
                        </a:rPr>
                        <a:t>scontext</a:t>
                      </a:r>
                      <a:r>
                        <a:rPr lang="en-US" altLang="zh-CN" smtClean="0"/>
                        <a:t>=u:r:mystart_shell:s0 </a:t>
                      </a:r>
                      <a:r>
                        <a:rPr lang="en-US" altLang="zh-CN" smtClean="0">
                          <a:solidFill>
                            <a:srgbClr val="FF0000"/>
                          </a:solidFill>
                        </a:rPr>
                        <a:t>tcontext</a:t>
                      </a:r>
                      <a:r>
                        <a:rPr lang="en-US" altLang="zh-CN" smtClean="0"/>
                        <a:t>=u:object_r:shell_data_file:s0 </a:t>
                      </a:r>
                      <a:r>
                        <a:rPr lang="en-US" altLang="zh-CN" smtClean="0">
                          <a:solidFill>
                            <a:srgbClr val="FF0000"/>
                          </a:solidFill>
                        </a:rPr>
                        <a:t>tclass</a:t>
                      </a:r>
                      <a:r>
                        <a:rPr lang="en-US" altLang="zh-CN" smtClean="0"/>
                        <a:t>=dir permissive=1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484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mtClean="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常规问题解决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561716"/>
              </p:ext>
            </p:extLst>
          </p:nvPr>
        </p:nvGraphicFramePr>
        <p:xfrm>
          <a:off x="436056" y="2349674"/>
          <a:ext cx="10801200" cy="3816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487721">
                <a:tc>
                  <a:txBody>
                    <a:bodyPr/>
                    <a:lstStyle/>
                    <a:p>
                      <a:r>
                        <a:rPr lang="en-US" altLang="zh-CN" smtClean="0"/>
                        <a:t>Policy</a:t>
                      </a:r>
                      <a:r>
                        <a:rPr lang="zh-CN" altLang="en-US" smtClean="0"/>
                        <a:t>语句示例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3328703">
                <a:tc>
                  <a:txBody>
                    <a:bodyPr/>
                    <a:lstStyle/>
                    <a:p>
                      <a:r>
                        <a:rPr lang="en-US" altLang="zh-CN" smtClean="0"/>
                        <a:t>allow mystart_shell shell_data_file:dir {search};</a:t>
                      </a:r>
                    </a:p>
                    <a:p>
                      <a:endParaRPr lang="en-US" altLang="zh-CN" smtClean="0"/>
                    </a:p>
                    <a:p>
                      <a:r>
                        <a:rPr lang="en-US" altLang="zh-CN" smtClean="0"/>
                        <a:t>/*</a:t>
                      </a:r>
                    </a:p>
                    <a:p>
                      <a:r>
                        <a:rPr lang="en-US" altLang="zh-CN" smtClean="0"/>
                        <a:t>  from system/sepolicy/mystart_shell.te</a:t>
                      </a:r>
                    </a:p>
                    <a:p>
                      <a:r>
                        <a:rPr lang="en-US" altLang="zh-CN" smtClean="0"/>
                        <a:t> </a:t>
                      </a:r>
                      <a:r>
                        <a:rPr lang="zh-CN" altLang="en-US" smtClean="0"/>
                        <a:t>上面这条</a:t>
                      </a:r>
                      <a:r>
                        <a:rPr lang="en-US" altLang="zh-CN" smtClean="0"/>
                        <a:t>SELinux</a:t>
                      </a:r>
                      <a:r>
                        <a:rPr lang="zh-CN" altLang="en-US" smtClean="0"/>
                        <a:t>语句表示 允许（</a:t>
                      </a:r>
                      <a:r>
                        <a:rPr lang="en-US" altLang="zh-CN" smtClean="0"/>
                        <a:t>allow </a:t>
                      </a:r>
                      <a:r>
                        <a:rPr lang="zh-CN" altLang="en-US" smtClean="0"/>
                        <a:t>）</a:t>
                      </a:r>
                      <a:r>
                        <a:rPr lang="en-US" altLang="zh-CN" smtClean="0"/>
                        <a:t>mystart_shell</a:t>
                      </a:r>
                      <a:r>
                        <a:rPr lang="zh-CN" altLang="en-US" smtClean="0"/>
                        <a:t>域（</a:t>
                      </a:r>
                      <a:r>
                        <a:rPr lang="en-US" altLang="zh-CN" smtClean="0"/>
                        <a:t>domain</a:t>
                      </a:r>
                      <a:r>
                        <a:rPr lang="zh-CN" altLang="en-US" smtClean="0"/>
                        <a:t>）中的进程 查询（</a:t>
                      </a:r>
                      <a:r>
                        <a:rPr lang="en-US" altLang="zh-CN" smtClean="0"/>
                        <a:t>search</a:t>
                      </a:r>
                      <a:r>
                        <a:rPr lang="zh-CN" altLang="en-US" smtClean="0"/>
                        <a:t>）类型为</a:t>
                      </a:r>
                      <a:r>
                        <a:rPr lang="en-US" altLang="zh-CN" smtClean="0"/>
                        <a:t>shell_data_file</a:t>
                      </a:r>
                      <a:r>
                        <a:rPr lang="zh-CN" altLang="en-US" smtClean="0"/>
                        <a:t>的文件夹</a:t>
                      </a:r>
                    </a:p>
                    <a:p>
                      <a:r>
                        <a:rPr lang="zh-CN" altLang="en-US" smtClean="0"/>
                        <a:t>*</a:t>
                      </a:r>
                      <a:r>
                        <a:rPr lang="en-US" altLang="zh-CN" smtClean="0"/>
                        <a:t>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964139"/>
              </p:ext>
            </p:extLst>
          </p:nvPr>
        </p:nvGraphicFramePr>
        <p:xfrm>
          <a:off x="436056" y="1319286"/>
          <a:ext cx="108012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366456243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3233035104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1014614375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184073145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1352896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AV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100" b="1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scontext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100" b="1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tcontext: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100" b="1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tclass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100" b="1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avc denied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250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allow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mystart_shell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shell_data_file: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dir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mtClean="0"/>
                        <a:t>search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389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778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mtClean="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常规问题解决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77687"/>
              </p:ext>
            </p:extLst>
          </p:nvPr>
        </p:nvGraphicFramePr>
        <p:xfrm>
          <a:off x="436056" y="1341562"/>
          <a:ext cx="10801200" cy="473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r>
                        <a:rPr lang="en-US" altLang="zh-CN" sz="2100" b="1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audit2allow</a:t>
                      </a:r>
                      <a:r>
                        <a:rPr lang="zh-CN" altLang="en-US" sz="2100" b="1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的使用</a:t>
                      </a:r>
                      <a:endParaRPr lang="zh-CN" alt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4158856">
                <a:tc>
                  <a:txBody>
                    <a:bodyPr/>
                    <a:lstStyle/>
                    <a:p>
                      <a:r>
                        <a:rPr lang="zh-CN" altLang="en-US" smtClean="0"/>
                        <a:t>通过一个简单的脚本来讲解：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618" y="2421682"/>
            <a:ext cx="898207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911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mtClean="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常规问题解决</a:t>
            </a:r>
            <a:endParaRPr lang="zh-CN" altLang="en-US" sz="280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229564"/>
              </p:ext>
            </p:extLst>
          </p:nvPr>
        </p:nvGraphicFramePr>
        <p:xfrm>
          <a:off x="550590" y="1197547"/>
          <a:ext cx="10513168" cy="50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3168">
                  <a:extLst>
                    <a:ext uri="{9D8B030D-6E8A-4147-A177-3AD203B41FA5}">
                      <a16:colId xmlns:a16="http://schemas.microsoft.com/office/drawing/2014/main" val="1843640884"/>
                    </a:ext>
                  </a:extLst>
                </a:gridCol>
              </a:tblGrid>
              <a:tr h="844187">
                <a:tc>
                  <a:txBody>
                    <a:bodyPr/>
                    <a:lstStyle/>
                    <a:p>
                      <a:r>
                        <a:rPr lang="en-US" altLang="zh-CN" err="1" smtClean="0"/>
                        <a:t>adb</a:t>
                      </a:r>
                      <a:r>
                        <a:rPr lang="zh-CN" altLang="en-US" smtClean="0"/>
                        <a:t>调试</a:t>
                      </a:r>
                      <a:r>
                        <a:rPr lang="en-US" altLang="zh-CN" smtClean="0"/>
                        <a:t>1</a:t>
                      </a:r>
                      <a:r>
                        <a:rPr lang="zh-CN" altLang="en-US" smtClean="0"/>
                        <a:t>：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223243"/>
                  </a:ext>
                </a:extLst>
              </a:tr>
              <a:tr h="4196373">
                <a:tc>
                  <a:txBody>
                    <a:bodyPr/>
                    <a:lstStyle/>
                    <a:p>
                      <a:r>
                        <a:rPr lang="en-US" altLang="zh-CN" err="1" smtClean="0"/>
                        <a:t>adb</a:t>
                      </a:r>
                      <a:r>
                        <a:rPr lang="en-US" altLang="zh-CN" smtClean="0"/>
                        <a:t> shell </a:t>
                      </a:r>
                      <a:r>
                        <a:rPr lang="en-US" altLang="zh-CN" err="1" smtClean="0"/>
                        <a:t>setenforce</a:t>
                      </a:r>
                      <a:r>
                        <a:rPr lang="en-US" altLang="zh-CN" smtClean="0"/>
                        <a:t> 0 //</a:t>
                      </a:r>
                      <a:r>
                        <a:rPr lang="zh-CN" altLang="en-US" smtClean="0"/>
                        <a:t>宽容模式，可以理解为关闭</a:t>
                      </a:r>
                      <a:r>
                        <a:rPr lang="en-US" altLang="zh-CN" smtClean="0"/>
                        <a:t>Selinux</a:t>
                      </a:r>
                    </a:p>
                    <a:p>
                      <a:r>
                        <a:rPr lang="en-US" altLang="zh-CN" err="1" smtClean="0"/>
                        <a:t>adb</a:t>
                      </a:r>
                      <a:r>
                        <a:rPr lang="en-US" altLang="zh-CN" smtClean="0"/>
                        <a:t> shell </a:t>
                      </a:r>
                      <a:r>
                        <a:rPr lang="en-US" altLang="zh-CN" err="1" smtClean="0"/>
                        <a:t>setenforce</a:t>
                      </a:r>
                      <a:r>
                        <a:rPr lang="en-US" altLang="zh-CN" smtClean="0"/>
                        <a:t> 1 //</a:t>
                      </a:r>
                      <a:r>
                        <a:rPr lang="zh-CN" altLang="en-US" smtClean="0"/>
                        <a:t>严格模式，可以理解为开启</a:t>
                      </a:r>
                      <a:r>
                        <a:rPr lang="en-US" altLang="zh-CN" smtClean="0"/>
                        <a:t>Selinux</a:t>
                      </a:r>
                    </a:p>
                    <a:p>
                      <a:r>
                        <a:rPr lang="en-US" altLang="zh-CN" smtClean="0"/>
                        <a:t>ls -Z //</a:t>
                      </a:r>
                      <a:r>
                        <a:rPr lang="zh-CN" altLang="en-US" smtClean="0"/>
                        <a:t>查看文件</a:t>
                      </a:r>
                      <a:r>
                        <a:rPr lang="en-US" altLang="zh-CN" smtClean="0"/>
                        <a:t>scontext</a:t>
                      </a:r>
                    </a:p>
                    <a:p>
                      <a:r>
                        <a:rPr lang="en-US" altLang="zh-CN" err="1" smtClean="0"/>
                        <a:t>ps</a:t>
                      </a:r>
                      <a:r>
                        <a:rPr lang="en-US" altLang="zh-CN" smtClean="0"/>
                        <a:t> -Z //</a:t>
                      </a:r>
                      <a:r>
                        <a:rPr lang="zh-CN" altLang="en-US" smtClean="0"/>
                        <a:t>查看进程</a:t>
                      </a:r>
                      <a:r>
                        <a:rPr lang="en-US" altLang="zh-CN" smtClean="0"/>
                        <a:t>domain</a:t>
                      </a:r>
                    </a:p>
                    <a:p>
                      <a:r>
                        <a:rPr lang="en-US" altLang="zh-CN" smtClean="0"/>
                        <a:t> 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20305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98" y="3429794"/>
            <a:ext cx="10181606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579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mtClean="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常规问题解决</a:t>
            </a:r>
            <a:endParaRPr lang="zh-CN" altLang="en-US" sz="280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0877"/>
              </p:ext>
            </p:extLst>
          </p:nvPr>
        </p:nvGraphicFramePr>
        <p:xfrm>
          <a:off x="550590" y="1197546"/>
          <a:ext cx="10513168" cy="504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3168">
                  <a:extLst>
                    <a:ext uri="{9D8B030D-6E8A-4147-A177-3AD203B41FA5}">
                      <a16:colId xmlns:a16="http://schemas.microsoft.com/office/drawing/2014/main" val="1843640884"/>
                    </a:ext>
                  </a:extLst>
                </a:gridCol>
              </a:tblGrid>
              <a:tr h="540529">
                <a:tc>
                  <a:txBody>
                    <a:bodyPr/>
                    <a:lstStyle/>
                    <a:p>
                      <a:r>
                        <a:rPr lang="en-US" altLang="zh-CN" err="1" smtClean="0"/>
                        <a:t>adb</a:t>
                      </a:r>
                      <a:r>
                        <a:rPr lang="zh-CN" altLang="en-US" smtClean="0"/>
                        <a:t>调试</a:t>
                      </a:r>
                      <a:r>
                        <a:rPr lang="en-US" altLang="zh-CN" smtClean="0"/>
                        <a:t>2</a:t>
                      </a:r>
                      <a:r>
                        <a:rPr lang="zh-CN" altLang="en-US" smtClean="0"/>
                        <a:t>：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223243"/>
                  </a:ext>
                </a:extLst>
              </a:tr>
              <a:tr h="4500030">
                <a:tc>
                  <a:txBody>
                    <a:bodyPr/>
                    <a:lstStyle/>
                    <a:p>
                      <a:r>
                        <a:rPr lang="en-US" altLang="zh-CN" err="1" smtClean="0"/>
                        <a:t>chcon</a:t>
                      </a:r>
                      <a:r>
                        <a:rPr lang="en-US" altLang="zh-CN" smtClean="0"/>
                        <a:t> //</a:t>
                      </a:r>
                      <a:r>
                        <a:rPr lang="zh-CN" altLang="en-US" smtClean="0"/>
                        <a:t>更新</a:t>
                      </a:r>
                      <a:r>
                        <a:rPr lang="en-US" altLang="zh-CN" smtClean="0"/>
                        <a:t>scontext</a:t>
                      </a:r>
                      <a:r>
                        <a:rPr lang="zh-CN" altLang="en-US" smtClean="0"/>
                        <a:t>；</a:t>
                      </a:r>
                      <a:r>
                        <a:rPr lang="en-US" altLang="zh-CN" err="1" smtClean="0"/>
                        <a:t>restorecon</a:t>
                      </a:r>
                      <a:r>
                        <a:rPr lang="en-US" altLang="zh-CN" smtClean="0"/>
                        <a:t> //</a:t>
                      </a:r>
                      <a:r>
                        <a:rPr lang="zh-CN" altLang="en-US" smtClean="0"/>
                        <a:t>恢复</a:t>
                      </a:r>
                      <a:r>
                        <a:rPr lang="en-US" altLang="zh-CN" smtClean="0"/>
                        <a:t>scontext</a:t>
                      </a:r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r>
                        <a:rPr lang="en-US" altLang="zh-CN" smtClean="0"/>
                        <a:t>id //</a:t>
                      </a:r>
                      <a:r>
                        <a:rPr lang="zh-CN" altLang="en-US" smtClean="0"/>
                        <a:t>确认自己的 </a:t>
                      </a:r>
                      <a:r>
                        <a:rPr lang="en-US" altLang="zh-CN" smtClean="0"/>
                        <a:t>security context </a:t>
                      </a:r>
                    </a:p>
                    <a:p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20305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98" y="2133649"/>
            <a:ext cx="6840760" cy="188916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97" y="4387414"/>
            <a:ext cx="9865097" cy="149065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927" y="2133650"/>
            <a:ext cx="2932768" cy="1889162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H="1" flipV="1">
            <a:off x="9047534" y="4022812"/>
            <a:ext cx="1080120" cy="14232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850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>
                <a:latin typeface="黑体" panose="02010609060101010101" pitchFamily="49" charset="-122"/>
              </a:rPr>
              <a:t>基础知识介绍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290647"/>
              </p:ext>
            </p:extLst>
          </p:nvPr>
        </p:nvGraphicFramePr>
        <p:xfrm>
          <a:off x="470351" y="999975"/>
          <a:ext cx="10801200" cy="4968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493504">
                <a:tc>
                  <a:txBody>
                    <a:bodyPr/>
                    <a:lstStyle/>
                    <a:p>
                      <a:r>
                        <a:rPr lang="zh-CN" altLang="en-US" smtClean="0"/>
                        <a:t>文件目录介绍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4475048">
                <a:tc>
                  <a:txBody>
                    <a:bodyPr/>
                    <a:lstStyle/>
                    <a:p>
                      <a:r>
                        <a:rPr lang="en-US" altLang="zh-CN" smtClean="0"/>
                        <a:t>system/sepolicy</a:t>
                      </a:r>
                      <a:r>
                        <a:rPr lang="zh-CN" altLang="en-US" smtClean="0"/>
                        <a:t>目录：</a:t>
                      </a:r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r>
                        <a:rPr lang="en-US" altLang="zh-CN" smtClean="0"/>
                        <a:t>/private/mls_macros                         //mls</a:t>
                      </a:r>
                      <a:r>
                        <a:rPr lang="zh-CN" altLang="en-US" smtClean="0"/>
                        <a:t>规则定义</a:t>
                      </a:r>
                      <a:endParaRPr lang="en-US" altLang="zh-CN" smtClean="0"/>
                    </a:p>
                    <a:p>
                      <a:r>
                        <a:rPr lang="en-US" altLang="zh-CN" smtClean="0"/>
                        <a:t>/public/</a:t>
                      </a:r>
                      <a:r>
                        <a:rPr lang="en-US" altLang="zh-CN" err="1" smtClean="0"/>
                        <a:t>xxx_macros</a:t>
                      </a:r>
                      <a:r>
                        <a:rPr lang="en-US" altLang="zh-CN" smtClean="0"/>
                        <a:t>                          //</a:t>
                      </a:r>
                      <a:r>
                        <a:rPr lang="zh-CN" altLang="en-US" smtClean="0"/>
                        <a:t>各种宏定义</a:t>
                      </a:r>
                      <a:endParaRPr lang="en-US" altLang="zh-CN" smtClean="0"/>
                    </a:p>
                    <a:p>
                      <a:r>
                        <a:rPr lang="en-US" altLang="zh-CN" smtClean="0"/>
                        <a:t>/public/attributes                              //attributes</a:t>
                      </a:r>
                      <a:r>
                        <a:rPr lang="zh-CN" altLang="en-US" smtClean="0"/>
                        <a:t>定义</a:t>
                      </a:r>
                      <a:endParaRPr lang="en-US" altLang="zh-CN" smtClean="0"/>
                    </a:p>
                    <a:p>
                      <a:r>
                        <a:rPr lang="en-US" altLang="zh-CN" smtClean="0"/>
                        <a:t>/private/</a:t>
                      </a:r>
                      <a:r>
                        <a:rPr lang="en-US" altLang="zh-CN" err="1" smtClean="0"/>
                        <a:t>xxxx_contexts</a:t>
                      </a:r>
                      <a:r>
                        <a:rPr lang="en-US" altLang="zh-CN" smtClean="0"/>
                        <a:t>                     //</a:t>
                      </a:r>
                      <a:r>
                        <a:rPr lang="zh-CN" altLang="en-US" smtClean="0"/>
                        <a:t>上下文描述文件</a:t>
                      </a:r>
                      <a:endParaRPr lang="en-US" altLang="zh-CN" smtClean="0"/>
                    </a:p>
                    <a:p>
                      <a:r>
                        <a:rPr lang="en-US" altLang="zh-CN" err="1" smtClean="0"/>
                        <a:t>xxxx.te</a:t>
                      </a:r>
                      <a:r>
                        <a:rPr lang="en-US" altLang="zh-CN" smtClean="0"/>
                        <a:t>                                             //</a:t>
                      </a:r>
                      <a:r>
                        <a:rPr lang="zh-CN" altLang="en-US" smtClean="0"/>
                        <a:t>主体定义，规则编写</a:t>
                      </a:r>
                      <a:endParaRPr lang="en-US" altLang="zh-CN" smtClean="0"/>
                    </a:p>
                    <a:p>
                      <a:r>
                        <a:rPr lang="en-US" altLang="zh-CN" smtClean="0"/>
                        <a:t>/private/access_vectors                   //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 set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374" y="2421682"/>
            <a:ext cx="3571875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35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mtClean="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常规问题解决</a:t>
            </a:r>
            <a:endParaRPr lang="zh-CN" altLang="en-US" sz="280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787814"/>
              </p:ext>
            </p:extLst>
          </p:nvPr>
        </p:nvGraphicFramePr>
        <p:xfrm>
          <a:off x="550590" y="1197547"/>
          <a:ext cx="10513168" cy="4756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3168">
                  <a:extLst>
                    <a:ext uri="{9D8B030D-6E8A-4147-A177-3AD203B41FA5}">
                      <a16:colId xmlns:a16="http://schemas.microsoft.com/office/drawing/2014/main" val="1843640884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r>
                        <a:rPr lang="en-US" altLang="zh-CN" smtClean="0"/>
                        <a:t>Selinux</a:t>
                      </a:r>
                      <a:r>
                        <a:rPr lang="zh-CN" altLang="en-US" smtClean="0"/>
                        <a:t>编译：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223243"/>
                  </a:ext>
                </a:extLst>
              </a:tr>
              <a:tr h="4196373">
                <a:tc>
                  <a:txBody>
                    <a:bodyPr/>
                    <a:lstStyle/>
                    <a:p>
                      <a:r>
                        <a:rPr lang="zh-CN" altLang="en-US" smtClean="0"/>
                        <a:t>编译：</a:t>
                      </a:r>
                      <a:endParaRPr lang="en-US" altLang="zh-CN" smtClean="0"/>
                    </a:p>
                    <a:p>
                      <a:r>
                        <a:rPr lang="en-US" altLang="zh-CN" smtClean="0"/>
                        <a:t>1</a:t>
                      </a:r>
                      <a:r>
                        <a:rPr lang="zh-CN" altLang="en-US" smtClean="0"/>
                        <a:t>、</a:t>
                      </a:r>
                      <a:r>
                        <a:rPr lang="en-US" altLang="zh-CN" smtClean="0"/>
                        <a:t>make </a:t>
                      </a:r>
                      <a:r>
                        <a:rPr lang="en-US" altLang="zh-CN" err="1" smtClean="0"/>
                        <a:t>selinux_policy</a:t>
                      </a:r>
                      <a:endParaRPr lang="en-US" altLang="zh-CN" smtClean="0"/>
                    </a:p>
                    <a:p>
                      <a:r>
                        <a:rPr lang="en-US" altLang="zh-CN" smtClean="0"/>
                        <a:t>2</a:t>
                      </a:r>
                      <a:r>
                        <a:rPr lang="zh-CN" altLang="en-US" smtClean="0"/>
                        <a:t>、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mmm system/sepolicy</a:t>
                      </a:r>
                    </a:p>
                    <a:p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adb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验证：</a:t>
                      </a:r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adb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push out/target/product/xxx/vendor/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selinux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/vendor/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</a:p>
                    <a:p>
                      <a:pPr marL="0" marR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adb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push out/target/product/xxx/system/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selinux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/system/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</a:p>
                    <a:p>
                      <a:pPr marL="0" marR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mtClean="0"/>
                    </a:p>
                    <a:p>
                      <a:pPr marL="0" marR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err="1" smtClean="0"/>
                        <a:t>fastboot</a:t>
                      </a:r>
                      <a:r>
                        <a:rPr lang="zh-CN" altLang="en-US" smtClean="0"/>
                        <a:t>验证：</a:t>
                      </a:r>
                    </a:p>
                    <a:p>
                      <a:r>
                        <a:rPr lang="en-US" altLang="zh-CN" smtClean="0"/>
                        <a:t>Android8.0</a:t>
                      </a:r>
                      <a:r>
                        <a:rPr lang="zh-CN" altLang="en-US" smtClean="0"/>
                        <a:t>以前：刷</a:t>
                      </a:r>
                      <a:r>
                        <a:rPr lang="en-US" altLang="zh-CN" err="1" smtClean="0"/>
                        <a:t>boot.img</a:t>
                      </a:r>
                      <a:endParaRPr lang="en-US" altLang="zh-CN" smtClean="0"/>
                    </a:p>
                    <a:p>
                      <a:r>
                        <a:rPr lang="en-US" altLang="zh-CN" smtClean="0"/>
                        <a:t>Android8.0</a:t>
                      </a:r>
                      <a:r>
                        <a:rPr lang="zh-CN" altLang="en-US" smtClean="0"/>
                        <a:t>以后：刷</a:t>
                      </a:r>
                      <a:r>
                        <a:rPr lang="en-US" altLang="zh-CN" err="1" smtClean="0"/>
                        <a:t>system.img</a:t>
                      </a:r>
                      <a:r>
                        <a:rPr lang="zh-CN" altLang="en-US" smtClean="0"/>
                        <a:t>、</a:t>
                      </a:r>
                      <a:r>
                        <a:rPr lang="en-US" altLang="zh-CN" err="1" smtClean="0"/>
                        <a:t>vendor.img</a:t>
                      </a:r>
                      <a:r>
                        <a:rPr lang="zh-CN" altLang="en-US" smtClean="0"/>
                        <a:t>（</a:t>
                      </a:r>
                      <a:r>
                        <a:rPr lang="en-US" altLang="zh-CN" err="1" smtClean="0"/>
                        <a:t>super.img</a:t>
                      </a:r>
                      <a:r>
                        <a:rPr lang="zh-CN" altLang="en-US" smtClean="0"/>
                        <a:t>）</a:t>
                      </a:r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r>
                        <a:rPr lang="zh-CN" altLang="en-US" smtClean="0"/>
                        <a:t>有不生效的情况，建议直接</a:t>
                      </a:r>
                      <a:r>
                        <a:rPr lang="en-US" altLang="zh-CN" smtClean="0"/>
                        <a:t>remake</a:t>
                      </a:r>
                      <a:r>
                        <a:rPr lang="zh-CN" altLang="en-US" smtClean="0"/>
                        <a:t>。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20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6402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mtClean="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常规问题解决</a:t>
            </a:r>
            <a:endParaRPr lang="zh-CN" altLang="en-US" sz="280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670468"/>
              </p:ext>
            </p:extLst>
          </p:nvPr>
        </p:nvGraphicFramePr>
        <p:xfrm>
          <a:off x="550590" y="1197546"/>
          <a:ext cx="10513168" cy="4968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3168">
                  <a:extLst>
                    <a:ext uri="{9D8B030D-6E8A-4147-A177-3AD203B41FA5}">
                      <a16:colId xmlns:a16="http://schemas.microsoft.com/office/drawing/2014/main" val="1843640884"/>
                    </a:ext>
                  </a:extLst>
                </a:gridCol>
              </a:tblGrid>
              <a:tr h="532807">
                <a:tc>
                  <a:txBody>
                    <a:bodyPr/>
                    <a:lstStyle/>
                    <a:p>
                      <a:r>
                        <a:rPr lang="en-US" altLang="zh-CN" smtClean="0"/>
                        <a:t>Selinux</a:t>
                      </a:r>
                      <a:r>
                        <a:rPr lang="zh-CN" altLang="en-US" smtClean="0"/>
                        <a:t>路径：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223243"/>
                  </a:ext>
                </a:extLst>
              </a:tr>
              <a:tr h="4435744">
                <a:tc>
                  <a:txBody>
                    <a:bodyPr/>
                    <a:lstStyle/>
                    <a:p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平台公有策略（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platform public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seoplicy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-------system/sepolicy/public</a:t>
                      </a:r>
                    </a:p>
                    <a:p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平台私有策略（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platform private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seoplicy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------system/sepolicy/private</a:t>
                      </a:r>
                    </a:p>
                    <a:p>
                      <a:pPr marL="0" marR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非平台策略    （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non-platform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seoplicy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----------device/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qcom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/sepolicy</a:t>
                      </a:r>
                    </a:p>
                    <a:p>
                      <a:endParaRPr lang="en-US" altLang="zh-CN" smtClean="0"/>
                    </a:p>
                    <a:p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私有策略的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或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attribute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non-platform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不可见，公有策略可见，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non-platform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可以扩展平台公有策略，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scontext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只有平台和非平台之分，也就是说，定义在平台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private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下面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file_contexts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属性，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和非平台的也可以访问。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20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035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不同</a:t>
            </a:r>
            <a:r>
              <a:rPr lang="en-US" altLang="zh-CN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Android</a:t>
            </a:r>
            <a:r>
              <a:rPr lang="zh-CN" altLang="en-US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版本</a:t>
            </a:r>
            <a:r>
              <a:rPr lang="en-US" altLang="zh-CN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SELinux</a:t>
            </a:r>
            <a:r>
              <a:rPr lang="zh-CN" altLang="en-US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添加</a:t>
            </a:r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209305"/>
              </p:ext>
            </p:extLst>
          </p:nvPr>
        </p:nvGraphicFramePr>
        <p:xfrm>
          <a:off x="550590" y="1197547"/>
          <a:ext cx="10513168" cy="50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3168">
                  <a:extLst>
                    <a:ext uri="{9D8B030D-6E8A-4147-A177-3AD203B41FA5}">
                      <a16:colId xmlns:a16="http://schemas.microsoft.com/office/drawing/2014/main" val="1843640884"/>
                    </a:ext>
                  </a:extLst>
                </a:gridCol>
              </a:tblGrid>
              <a:tr h="844187">
                <a:tc>
                  <a:txBody>
                    <a:bodyPr/>
                    <a:lstStyle/>
                    <a:p>
                      <a:r>
                        <a:rPr lang="en-US" altLang="zh-CN" smtClean="0"/>
                        <a:t>Android8</a:t>
                      </a:r>
                      <a:r>
                        <a:rPr lang="zh-CN" altLang="en-US" smtClean="0"/>
                        <a:t>及以前：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223243"/>
                  </a:ext>
                </a:extLst>
              </a:tr>
              <a:tr h="4196373">
                <a:tc>
                  <a:txBody>
                    <a:bodyPr/>
                    <a:lstStyle/>
                    <a:p>
                      <a:r>
                        <a:rPr lang="zh-CN" altLang="en-US" smtClean="0"/>
                        <a:t>位于</a:t>
                      </a:r>
                      <a:r>
                        <a:rPr lang="en-US" altLang="zh-CN" smtClean="0"/>
                        <a:t>device\</a:t>
                      </a:r>
                      <a:r>
                        <a:rPr lang="en-US" altLang="zh-CN" err="1" smtClean="0"/>
                        <a:t>qcom</a:t>
                      </a:r>
                      <a:r>
                        <a:rPr lang="en-US" altLang="zh-CN" smtClean="0"/>
                        <a:t>\</a:t>
                      </a:r>
                      <a:r>
                        <a:rPr lang="en-US" altLang="zh-CN" err="1" smtClean="0"/>
                        <a:t>sepolicy</a:t>
                      </a:r>
                      <a:r>
                        <a:rPr lang="en-US" altLang="zh-CN" smtClean="0"/>
                        <a:t>\common</a:t>
                      </a:r>
                      <a:r>
                        <a:rPr lang="zh-CN" altLang="en-US" smtClean="0"/>
                        <a:t>：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20305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730" y="2606858"/>
            <a:ext cx="6391275" cy="16478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790" y="4365898"/>
            <a:ext cx="6384215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009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不同</a:t>
            </a:r>
            <a:r>
              <a:rPr lang="en-US" altLang="zh-CN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Android</a:t>
            </a:r>
            <a:r>
              <a:rPr lang="zh-CN" altLang="en-US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版本</a:t>
            </a:r>
            <a:r>
              <a:rPr lang="en-US" altLang="zh-CN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SELinux</a:t>
            </a:r>
            <a:r>
              <a:rPr lang="zh-CN" altLang="en-US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添加</a:t>
            </a:r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05368"/>
              </p:ext>
            </p:extLst>
          </p:nvPr>
        </p:nvGraphicFramePr>
        <p:xfrm>
          <a:off x="550590" y="1197547"/>
          <a:ext cx="10513168" cy="50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3168">
                  <a:extLst>
                    <a:ext uri="{9D8B030D-6E8A-4147-A177-3AD203B41FA5}">
                      <a16:colId xmlns:a16="http://schemas.microsoft.com/office/drawing/2014/main" val="1843640884"/>
                    </a:ext>
                  </a:extLst>
                </a:gridCol>
              </a:tblGrid>
              <a:tr h="844187">
                <a:tc>
                  <a:txBody>
                    <a:bodyPr/>
                    <a:lstStyle/>
                    <a:p>
                      <a:r>
                        <a:rPr lang="en-US" altLang="zh-CN" smtClean="0"/>
                        <a:t>Android9</a:t>
                      </a:r>
                      <a:r>
                        <a:rPr lang="zh-CN" altLang="en-US" smtClean="0"/>
                        <a:t>：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223243"/>
                  </a:ext>
                </a:extLst>
              </a:tr>
              <a:tr h="4196373">
                <a:tc>
                  <a:txBody>
                    <a:bodyPr/>
                    <a:lstStyle/>
                    <a:p>
                      <a:r>
                        <a:rPr lang="zh-CN" altLang="en-US" smtClean="0"/>
                        <a:t>位于</a:t>
                      </a:r>
                      <a:r>
                        <a:rPr lang="en-US" altLang="zh-CN" smtClean="0"/>
                        <a:t>device\</a:t>
                      </a:r>
                      <a:r>
                        <a:rPr lang="en-US" altLang="zh-CN" err="1" smtClean="0"/>
                        <a:t>qcom</a:t>
                      </a:r>
                      <a:r>
                        <a:rPr lang="en-US" altLang="zh-CN" smtClean="0"/>
                        <a:t>\</a:t>
                      </a:r>
                      <a:r>
                        <a:rPr lang="en-US" altLang="zh-CN" err="1" smtClean="0"/>
                        <a:t>sepolicy</a:t>
                      </a:r>
                      <a:r>
                        <a:rPr lang="en-US" altLang="zh-CN" smtClean="0"/>
                        <a:t>\vendor\common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20305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798" y="3285778"/>
            <a:ext cx="654367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390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不同</a:t>
            </a:r>
            <a:r>
              <a:rPr lang="en-US" altLang="zh-CN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Android</a:t>
            </a:r>
            <a:r>
              <a:rPr lang="zh-CN" altLang="en-US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版本</a:t>
            </a:r>
            <a:r>
              <a:rPr lang="en-US" altLang="zh-CN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SELinux</a:t>
            </a:r>
            <a:r>
              <a:rPr lang="zh-CN" altLang="en-US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添加</a:t>
            </a:r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079710"/>
              </p:ext>
            </p:extLst>
          </p:nvPr>
        </p:nvGraphicFramePr>
        <p:xfrm>
          <a:off x="550590" y="1197546"/>
          <a:ext cx="10513168" cy="5112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3168">
                  <a:extLst>
                    <a:ext uri="{9D8B030D-6E8A-4147-A177-3AD203B41FA5}">
                      <a16:colId xmlns:a16="http://schemas.microsoft.com/office/drawing/2014/main" val="1843640884"/>
                    </a:ext>
                  </a:extLst>
                </a:gridCol>
              </a:tblGrid>
              <a:tr h="617119">
                <a:tc>
                  <a:txBody>
                    <a:bodyPr/>
                    <a:lstStyle/>
                    <a:p>
                      <a:r>
                        <a:rPr lang="en-US" altLang="zh-CN" smtClean="0"/>
                        <a:t>Android10</a:t>
                      </a:r>
                      <a:r>
                        <a:rPr lang="zh-CN" altLang="en-US" smtClean="0"/>
                        <a:t>：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223243"/>
                  </a:ext>
                </a:extLst>
              </a:tr>
              <a:tr h="4495448">
                <a:tc>
                  <a:txBody>
                    <a:bodyPr/>
                    <a:lstStyle/>
                    <a:p>
                      <a:r>
                        <a:rPr lang="zh-CN" altLang="en-US" smtClean="0"/>
                        <a:t>两个都可以：</a:t>
                      </a:r>
                      <a:r>
                        <a:rPr lang="en-US" altLang="zh-CN" smtClean="0"/>
                        <a:t>device\</a:t>
                      </a:r>
                      <a:r>
                        <a:rPr lang="en-US" altLang="zh-CN" err="1" smtClean="0"/>
                        <a:t>qcom</a:t>
                      </a:r>
                      <a:r>
                        <a:rPr lang="en-US" altLang="zh-CN" smtClean="0"/>
                        <a:t>\</a:t>
                      </a:r>
                      <a:r>
                        <a:rPr lang="en-US" altLang="zh-CN" err="1" smtClean="0"/>
                        <a:t>sepolicy</a:t>
                      </a:r>
                      <a:r>
                        <a:rPr lang="en-US" altLang="zh-CN" smtClean="0"/>
                        <a:t>\generic\vendor\common</a:t>
                      </a:r>
                    </a:p>
                    <a:p>
                      <a:r>
                        <a:rPr lang="en-US" altLang="zh-CN" smtClean="0"/>
                        <a:t>                      device\</a:t>
                      </a:r>
                      <a:r>
                        <a:rPr lang="en-US" altLang="zh-CN" err="1" smtClean="0"/>
                        <a:t>qcom</a:t>
                      </a:r>
                      <a:r>
                        <a:rPr lang="en-US" altLang="zh-CN" smtClean="0"/>
                        <a:t>\</a:t>
                      </a:r>
                      <a:r>
                        <a:rPr lang="en-US" altLang="zh-CN" err="1" smtClean="0"/>
                        <a:t>sepolicy</a:t>
                      </a:r>
                      <a:r>
                        <a:rPr lang="en-US" altLang="zh-CN" smtClean="0"/>
                        <a:t>\</a:t>
                      </a:r>
                      <a:r>
                        <a:rPr lang="en-US" altLang="zh-CN" err="1" smtClean="0"/>
                        <a:t>qva</a:t>
                      </a:r>
                      <a:r>
                        <a:rPr lang="en-US" altLang="zh-CN" smtClean="0"/>
                        <a:t>\vendor\common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20305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549" y="2853730"/>
            <a:ext cx="6953250" cy="16750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549" y="4545590"/>
            <a:ext cx="69532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003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不同</a:t>
            </a:r>
            <a:r>
              <a:rPr lang="en-US" altLang="zh-CN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Android</a:t>
            </a:r>
            <a:r>
              <a:rPr lang="zh-CN" altLang="en-US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版本</a:t>
            </a:r>
            <a:r>
              <a:rPr lang="en-US" altLang="zh-CN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SELinux</a:t>
            </a:r>
            <a:r>
              <a:rPr lang="zh-CN" altLang="en-US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添加</a:t>
            </a:r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887879"/>
              </p:ext>
            </p:extLst>
          </p:nvPr>
        </p:nvGraphicFramePr>
        <p:xfrm>
          <a:off x="550590" y="1197547"/>
          <a:ext cx="10513168" cy="4916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3168">
                  <a:extLst>
                    <a:ext uri="{9D8B030D-6E8A-4147-A177-3AD203B41FA5}">
                      <a16:colId xmlns:a16="http://schemas.microsoft.com/office/drawing/2014/main" val="1843640884"/>
                    </a:ext>
                  </a:extLst>
                </a:gridCol>
              </a:tblGrid>
              <a:tr h="720079">
                <a:tc>
                  <a:txBody>
                    <a:bodyPr/>
                    <a:lstStyle/>
                    <a:p>
                      <a:r>
                        <a:rPr lang="en-US" altLang="zh-CN" smtClean="0"/>
                        <a:t>Android11</a:t>
                      </a:r>
                      <a:r>
                        <a:rPr lang="zh-CN" altLang="en-US" smtClean="0"/>
                        <a:t>、</a:t>
                      </a:r>
                      <a:r>
                        <a:rPr lang="en-US" altLang="zh-CN" smtClean="0"/>
                        <a:t>12</a:t>
                      </a:r>
                      <a:r>
                        <a:rPr lang="zh-CN" altLang="en-US" smtClean="0"/>
                        <a:t>：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223243"/>
                  </a:ext>
                </a:extLst>
              </a:tr>
              <a:tr h="4196373">
                <a:tc>
                  <a:txBody>
                    <a:bodyPr/>
                    <a:lstStyle/>
                    <a:p>
                      <a:r>
                        <a:rPr lang="en-US" altLang="zh-CN" smtClean="0"/>
                        <a:t>UM.9.14\device\</a:t>
                      </a:r>
                      <a:r>
                        <a:rPr lang="en-US" altLang="zh-CN" err="1" smtClean="0"/>
                        <a:t>qcom</a:t>
                      </a:r>
                      <a:r>
                        <a:rPr lang="en-US" altLang="zh-CN" smtClean="0"/>
                        <a:t>\</a:t>
                      </a:r>
                      <a:r>
                        <a:rPr lang="en-US" altLang="zh-CN" err="1" smtClean="0"/>
                        <a:t>sepolicy_vndr</a:t>
                      </a:r>
                      <a:r>
                        <a:rPr lang="en-US" altLang="zh-CN" smtClean="0"/>
                        <a:t>\generic\vendor\common</a:t>
                      </a:r>
                    </a:p>
                    <a:p>
                      <a:r>
                        <a:rPr lang="en-US" altLang="zh-CN" smtClean="0"/>
                        <a:t>UM.9.14\device\</a:t>
                      </a:r>
                      <a:r>
                        <a:rPr lang="en-US" altLang="zh-CN" err="1" smtClean="0"/>
                        <a:t>qcom</a:t>
                      </a:r>
                      <a:r>
                        <a:rPr lang="en-US" altLang="zh-CN" smtClean="0"/>
                        <a:t>\</a:t>
                      </a:r>
                      <a:r>
                        <a:rPr lang="en-US" altLang="zh-CN" err="1" smtClean="0"/>
                        <a:t>sepolicy_vndr</a:t>
                      </a:r>
                      <a:r>
                        <a:rPr lang="en-US" altLang="zh-CN" smtClean="0"/>
                        <a:t>\</a:t>
                      </a:r>
                      <a:r>
                        <a:rPr lang="en-US" altLang="zh-CN" err="1" smtClean="0"/>
                        <a:t>qva</a:t>
                      </a:r>
                      <a:r>
                        <a:rPr lang="en-US" altLang="zh-CN" smtClean="0"/>
                        <a:t>\vendor\common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20305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786" y="3132850"/>
            <a:ext cx="7096125" cy="1171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552" y="4580562"/>
            <a:ext cx="7095656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084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不同</a:t>
            </a:r>
            <a:r>
              <a:rPr lang="en-US" altLang="zh-CN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Android</a:t>
            </a:r>
            <a:r>
              <a:rPr lang="zh-CN" altLang="en-US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版本</a:t>
            </a:r>
            <a:r>
              <a:rPr lang="en-US" altLang="zh-CN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SELinux</a:t>
            </a:r>
            <a:r>
              <a:rPr lang="zh-CN" altLang="en-US" sz="280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添加</a:t>
            </a:r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737576"/>
              </p:ext>
            </p:extLst>
          </p:nvPr>
        </p:nvGraphicFramePr>
        <p:xfrm>
          <a:off x="550590" y="1197547"/>
          <a:ext cx="10513168" cy="4916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3168">
                  <a:extLst>
                    <a:ext uri="{9D8B030D-6E8A-4147-A177-3AD203B41FA5}">
                      <a16:colId xmlns:a16="http://schemas.microsoft.com/office/drawing/2014/main" val="1843640884"/>
                    </a:ext>
                  </a:extLst>
                </a:gridCol>
              </a:tblGrid>
              <a:tr h="720079">
                <a:tc>
                  <a:txBody>
                    <a:bodyPr/>
                    <a:lstStyle/>
                    <a:p>
                      <a:r>
                        <a:rPr lang="zh-CN" altLang="en-US" smtClean="0"/>
                        <a:t>总结、其他平台：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223243"/>
                  </a:ext>
                </a:extLst>
              </a:tr>
              <a:tr h="4196373">
                <a:tc>
                  <a:txBody>
                    <a:bodyPr/>
                    <a:lstStyle/>
                    <a:p>
                      <a:r>
                        <a:rPr lang="zh-CN" altLang="en-US" smtClean="0"/>
                        <a:t>展锐</a:t>
                      </a:r>
                      <a:r>
                        <a:rPr lang="en-US" altLang="zh-CN" smtClean="0"/>
                        <a:t>SC200K </a:t>
                      </a:r>
                      <a:r>
                        <a:rPr lang="zh-CN" altLang="en-US" smtClean="0"/>
                        <a:t>直接定义在</a:t>
                      </a:r>
                      <a:r>
                        <a:rPr lang="en-US" altLang="zh-CN" smtClean="0"/>
                        <a:t>device\sprd\sharkl3\uis8581e5h10\BoardConfig.mk</a:t>
                      </a:r>
                    </a:p>
                    <a:p>
                      <a:r>
                        <a:rPr lang="en-US" altLang="zh-CN" smtClean="0"/>
                        <a:t>BOARD_SEPOLICY_DIRS                             //</a:t>
                      </a:r>
                      <a:r>
                        <a:rPr lang="zh-CN" altLang="en-US" smtClean="0"/>
                        <a:t>表示非平台策略，我们一般加在这里</a:t>
                      </a:r>
                      <a:endParaRPr lang="en-US" altLang="zh-CN" smtClean="0"/>
                    </a:p>
                    <a:p>
                      <a:r>
                        <a:rPr lang="en-US" altLang="zh-CN" smtClean="0"/>
                        <a:t>BOARD_PLAT_PRIVATE_SEPOLICY_DIR     </a:t>
                      </a:r>
                    </a:p>
                    <a:p>
                      <a:r>
                        <a:rPr lang="en-US" altLang="zh-CN" smtClean="0"/>
                        <a:t>BOARD_PLAT_PUBLIC_SEPOLICY_DIR</a:t>
                      </a:r>
                    </a:p>
                    <a:p>
                      <a:endParaRPr lang="en-US" altLang="zh-CN" smtClean="0"/>
                    </a:p>
                    <a:p>
                      <a:r>
                        <a:rPr lang="zh-CN" altLang="en-US" smtClean="0"/>
                        <a:t>高通平台以</a:t>
                      </a:r>
                      <a:r>
                        <a:rPr lang="en-US" altLang="zh-CN" smtClean="0"/>
                        <a:t>SG560D</a:t>
                      </a:r>
                      <a:r>
                        <a:rPr lang="zh-CN" altLang="en-US" smtClean="0"/>
                        <a:t>为例：</a:t>
                      </a:r>
                      <a:r>
                        <a:rPr lang="en-US" altLang="zh-CN" smtClean="0"/>
                        <a:t>UM.9.14\device\qcom\Lahaina\BoardConfig.mk</a:t>
                      </a:r>
                    </a:p>
                    <a:p>
                      <a:r>
                        <a:rPr lang="en-US" altLang="zh-CN" smtClean="0"/>
                        <a:t>include device/qcom/sepolicy_vndr/SEPolicy.mk</a:t>
                      </a:r>
                    </a:p>
                    <a:p>
                      <a:r>
                        <a:rPr lang="en-US" altLang="zh-CN" smtClean="0"/>
                        <a:t> BOARD_SEPOLICY_DIRS := \       </a:t>
                      </a:r>
                    </a:p>
                    <a:p>
                      <a:r>
                        <a:rPr lang="en-US" altLang="zh-CN" smtClean="0"/>
                        <a:t>$(BOARD_SEPOLICY_DIRS) \      </a:t>
                      </a:r>
                    </a:p>
                    <a:p>
                      <a:r>
                        <a:rPr lang="en-US" altLang="zh-CN" smtClean="0"/>
                        <a:t>……</a:t>
                      </a:r>
                      <a:r>
                        <a:rPr lang="zh-CN" altLang="en-US" smtClean="0"/>
                        <a:t>略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20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12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smtClean="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Android </a:t>
            </a:r>
            <a:r>
              <a:rPr lang="en-US" altLang="zh-CN" sz="2800" err="1" smtClean="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init</a:t>
            </a:r>
            <a:r>
              <a:rPr lang="zh-CN" altLang="en-US" sz="2800" smtClean="0">
                <a:ln w="12700">
                  <a:noFill/>
                  <a:prstDash val="solid"/>
                </a:ln>
                <a:ea typeface="微软雅黑" panose="020B0503020204020204" pitchFamily="82" charset="2"/>
                <a:cs typeface="Arial" panose="020B0604020202020204" pitchFamily="34" charset="0"/>
              </a:rPr>
              <a:t>添加脚本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155483"/>
              </p:ext>
            </p:extLst>
          </p:nvPr>
        </p:nvGraphicFramePr>
        <p:xfrm>
          <a:off x="838622" y="1341562"/>
          <a:ext cx="9361040" cy="3888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0">
                  <a:extLst>
                    <a:ext uri="{9D8B030D-6E8A-4147-A177-3AD203B41FA5}">
                      <a16:colId xmlns:a16="http://schemas.microsoft.com/office/drawing/2014/main" val="2452471192"/>
                    </a:ext>
                  </a:extLst>
                </a:gridCol>
              </a:tblGrid>
              <a:tr h="777686">
                <a:tc>
                  <a:txBody>
                    <a:bodyPr/>
                    <a:lstStyle/>
                    <a:p>
                      <a:r>
                        <a:rPr lang="zh-CN" altLang="en-US" smtClean="0"/>
                        <a:t>添加</a:t>
                      </a:r>
                      <a:r>
                        <a:rPr lang="en-US" altLang="zh-CN" err="1" smtClean="0"/>
                        <a:t>sh</a:t>
                      </a:r>
                      <a:r>
                        <a:rPr lang="zh-CN" altLang="en-US" smtClean="0"/>
                        <a:t>脚本步骤：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948933"/>
                  </a:ext>
                </a:extLst>
              </a:tr>
              <a:tr h="777686">
                <a:tc>
                  <a:txBody>
                    <a:bodyPr/>
                    <a:lstStyle/>
                    <a:p>
                      <a:r>
                        <a:rPr lang="en-US" altLang="zh-CN" smtClean="0"/>
                        <a:t>1</a:t>
                      </a:r>
                      <a:r>
                        <a:rPr lang="zh-CN" altLang="en-US" smtClean="0"/>
                        <a:t>，拷贝脚本到</a:t>
                      </a:r>
                      <a:r>
                        <a:rPr lang="en-US" altLang="zh-CN" smtClean="0"/>
                        <a:t>system/bin</a:t>
                      </a:r>
                      <a:r>
                        <a:rPr lang="zh-CN" altLang="en-US" smtClean="0"/>
                        <a:t>或者</a:t>
                      </a:r>
                      <a:r>
                        <a:rPr lang="en-US" altLang="zh-CN" smtClean="0"/>
                        <a:t>vendor/bin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183676"/>
                  </a:ext>
                </a:extLst>
              </a:tr>
              <a:tr h="777686">
                <a:tc>
                  <a:txBody>
                    <a:bodyPr/>
                    <a:lstStyle/>
                    <a:p>
                      <a:r>
                        <a:rPr lang="en-US" altLang="zh-CN" smtClean="0"/>
                        <a:t>2</a:t>
                      </a:r>
                      <a:r>
                        <a:rPr lang="zh-CN" altLang="en-US" smtClean="0"/>
                        <a:t>，</a:t>
                      </a:r>
                      <a:r>
                        <a:rPr lang="en-US" altLang="zh-CN" err="1" smtClean="0"/>
                        <a:t>init.rc</a:t>
                      </a:r>
                      <a:r>
                        <a:rPr lang="en-US" altLang="zh-CN" smtClean="0"/>
                        <a:t>(</a:t>
                      </a:r>
                      <a:r>
                        <a:rPr lang="en-US" altLang="zh-CN" err="1" smtClean="0"/>
                        <a:t>init.qcom.rc</a:t>
                      </a:r>
                      <a:r>
                        <a:rPr lang="en-US" altLang="zh-CN" smtClean="0"/>
                        <a:t>)</a:t>
                      </a:r>
                      <a:r>
                        <a:rPr lang="zh-CN" altLang="en-US" smtClean="0"/>
                        <a:t>添加脚本服务，添加启动条件。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92896"/>
                  </a:ext>
                </a:extLst>
              </a:tr>
              <a:tr h="777686">
                <a:tc>
                  <a:txBody>
                    <a:bodyPr/>
                    <a:lstStyle/>
                    <a:p>
                      <a:r>
                        <a:rPr lang="en-US" altLang="zh-CN" smtClean="0"/>
                        <a:t>3</a:t>
                      </a:r>
                      <a:r>
                        <a:rPr lang="zh-CN" altLang="en-US" smtClean="0"/>
                        <a:t>，添加脚本服务的</a:t>
                      </a:r>
                      <a:r>
                        <a:rPr lang="en-US" altLang="zh-CN" err="1" smtClean="0"/>
                        <a:t>te</a:t>
                      </a:r>
                      <a:r>
                        <a:rPr lang="zh-CN" altLang="en-US" smtClean="0"/>
                        <a:t>文件，切换</a:t>
                      </a:r>
                      <a:r>
                        <a:rPr lang="en-US" altLang="zh-CN" smtClean="0"/>
                        <a:t>domain(</a:t>
                      </a:r>
                      <a:r>
                        <a:rPr lang="zh-CN" altLang="en-US" smtClean="0"/>
                        <a:t>也可以在</a:t>
                      </a:r>
                      <a:r>
                        <a:rPr lang="en-US" altLang="zh-CN" err="1" smtClean="0"/>
                        <a:t>init.rc</a:t>
                      </a:r>
                      <a:r>
                        <a:rPr lang="zh-CN" altLang="en-US" smtClean="0"/>
                        <a:t>切换</a:t>
                      </a:r>
                      <a:r>
                        <a:rPr lang="en-US" altLang="zh-CN" smtClean="0"/>
                        <a:t>)</a:t>
                      </a:r>
                      <a:r>
                        <a:rPr lang="zh-CN" altLang="en-US" smtClean="0"/>
                        <a:t>。编写脚本需要的</a:t>
                      </a:r>
                      <a:r>
                        <a:rPr lang="en-US" altLang="zh-CN" err="1" smtClean="0"/>
                        <a:t>selinux</a:t>
                      </a:r>
                      <a:r>
                        <a:rPr lang="zh-CN" altLang="en-US" smtClean="0"/>
                        <a:t>权限语句。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125798"/>
                  </a:ext>
                </a:extLst>
              </a:tr>
              <a:tr h="777686">
                <a:tc>
                  <a:txBody>
                    <a:bodyPr/>
                    <a:lstStyle/>
                    <a:p>
                      <a:r>
                        <a:rPr lang="en-US" altLang="zh-CN" smtClean="0"/>
                        <a:t>4</a:t>
                      </a:r>
                      <a:r>
                        <a:rPr lang="zh-CN" altLang="en-US" smtClean="0"/>
                        <a:t>，在合适的时机启动服务。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814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332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问题进阶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36056" y="1053530"/>
          <a:ext cx="10801200" cy="4637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460656">
                <a:tc>
                  <a:txBody>
                    <a:bodyPr/>
                    <a:lstStyle/>
                    <a:p>
                      <a:r>
                        <a:rPr lang="en-US" altLang="zh-CN" err="1" smtClean="0"/>
                        <a:t>neverallow</a:t>
                      </a:r>
                      <a:r>
                        <a:rPr lang="zh-CN" altLang="en-US" smtClean="0"/>
                        <a:t>问题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4177187">
                <a:tc>
                  <a:txBody>
                    <a:bodyPr/>
                    <a:lstStyle/>
                    <a:p>
                      <a:r>
                        <a:rPr lang="zh-CN" altLang="en-US" smtClean="0"/>
                        <a:t>权限必须显示声明，没有声明的话默认就没有权限，</a:t>
                      </a:r>
                      <a:r>
                        <a:rPr lang="en-US" altLang="zh-CN" err="1" smtClean="0"/>
                        <a:t>neverallow</a:t>
                      </a:r>
                      <a:r>
                        <a:rPr lang="zh-CN" altLang="en-US" smtClean="0"/>
                        <a:t>语句的作用只是在生成安全策略文件时进行检查，判断是否有违反</a:t>
                      </a:r>
                      <a:r>
                        <a:rPr lang="en-US" altLang="zh-CN" err="1" smtClean="0"/>
                        <a:t>neverallow</a:t>
                      </a:r>
                      <a:r>
                        <a:rPr lang="zh-CN" altLang="en-US" smtClean="0"/>
                        <a:t>语句的</a:t>
                      </a:r>
                      <a:r>
                        <a:rPr lang="en-US" altLang="zh-CN" smtClean="0"/>
                        <a:t>allow</a:t>
                      </a:r>
                      <a:r>
                        <a:rPr lang="zh-CN" altLang="en-US" smtClean="0"/>
                        <a:t>语句。</a:t>
                      </a:r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r>
                        <a:rPr lang="zh-CN" altLang="en-US" smtClean="0"/>
                        <a:t>根据报错信息查看</a:t>
                      </a:r>
                      <a:r>
                        <a:rPr lang="en-US" altLang="zh-CN" err="1" smtClean="0"/>
                        <a:t>neverallow</a:t>
                      </a:r>
                      <a:r>
                        <a:rPr lang="zh-CN" altLang="en-US" smtClean="0"/>
                        <a:t>位置，一般为：</a:t>
                      </a:r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r>
                        <a:rPr lang="en-US" altLang="zh-CN" smtClean="0"/>
                        <a:t>system\</a:t>
                      </a:r>
                      <a:r>
                        <a:rPr lang="en-US" altLang="zh-CN" err="1" smtClean="0"/>
                        <a:t>sepolicy</a:t>
                      </a:r>
                      <a:r>
                        <a:rPr lang="en-US" altLang="zh-CN" smtClean="0"/>
                        <a:t>\public\</a:t>
                      </a:r>
                      <a:r>
                        <a:rPr lang="en-US" altLang="zh-CN" err="1" smtClean="0"/>
                        <a:t>domain.te</a:t>
                      </a:r>
                      <a:r>
                        <a:rPr lang="en-US" altLang="zh-CN" smtClean="0"/>
                        <a:t> </a:t>
                      </a:r>
                      <a:r>
                        <a:rPr lang="zh-CN" altLang="en-US" smtClean="0"/>
                        <a:t>；</a:t>
                      </a:r>
                      <a:endParaRPr lang="en-US" altLang="zh-CN" smtClean="0"/>
                    </a:p>
                    <a:p>
                      <a:r>
                        <a:rPr lang="en-US" altLang="zh-CN" smtClean="0"/>
                        <a:t>system\</a:t>
                      </a:r>
                      <a:r>
                        <a:rPr lang="en-US" altLang="zh-CN" err="1" smtClean="0"/>
                        <a:t>sepolicy</a:t>
                      </a:r>
                      <a:r>
                        <a:rPr lang="en-US" altLang="zh-CN" smtClean="0"/>
                        <a:t>\</a:t>
                      </a:r>
                      <a:r>
                        <a:rPr lang="en-US" altLang="zh-CN" err="1" smtClean="0"/>
                        <a:t>prebuilts</a:t>
                      </a:r>
                      <a:r>
                        <a:rPr lang="en-US" altLang="zh-CN" smtClean="0"/>
                        <a:t>\</a:t>
                      </a:r>
                      <a:r>
                        <a:rPr lang="en-US" altLang="zh-CN" err="1" smtClean="0"/>
                        <a:t>api</a:t>
                      </a:r>
                      <a:r>
                        <a:rPr lang="en-US" altLang="zh-CN" smtClean="0"/>
                        <a:t>\31.0\public\</a:t>
                      </a:r>
                      <a:r>
                        <a:rPr lang="en-US" altLang="zh-CN" err="1" smtClean="0"/>
                        <a:t>domain.te</a:t>
                      </a:r>
                      <a:r>
                        <a:rPr lang="zh-CN" altLang="en-US" smtClean="0"/>
                        <a:t>；</a:t>
                      </a:r>
                      <a:r>
                        <a:rPr lang="en-US" altLang="zh-CN" smtClean="0"/>
                        <a:t>(31</a:t>
                      </a:r>
                      <a:r>
                        <a:rPr lang="zh-CN" altLang="en-US" smtClean="0"/>
                        <a:t>当前</a:t>
                      </a:r>
                      <a:r>
                        <a:rPr lang="en-US" altLang="zh-CN" err="1" smtClean="0"/>
                        <a:t>api</a:t>
                      </a:r>
                      <a:r>
                        <a:rPr lang="zh-CN" altLang="en-US" smtClean="0"/>
                        <a:t>版本，一般最后一个</a:t>
                      </a:r>
                      <a:r>
                        <a:rPr lang="en-US" altLang="zh-CN" smtClean="0"/>
                        <a:t>)</a:t>
                      </a:r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624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问题进阶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36056" y="1053530"/>
          <a:ext cx="10801200" cy="4968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493504">
                <a:tc>
                  <a:txBody>
                    <a:bodyPr/>
                    <a:lstStyle/>
                    <a:p>
                      <a:r>
                        <a:rPr lang="en-US" altLang="zh-CN" err="1" smtClean="0"/>
                        <a:t>neverallow</a:t>
                      </a:r>
                      <a:r>
                        <a:rPr lang="zh-CN" altLang="en-US" smtClean="0"/>
                        <a:t>问题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4475048">
                <a:tc>
                  <a:txBody>
                    <a:bodyPr/>
                    <a:lstStyle/>
                    <a:p>
                      <a:r>
                        <a:rPr lang="en-US" altLang="zh-CN" err="1" smtClean="0"/>
                        <a:t>neverallow</a:t>
                      </a:r>
                      <a:r>
                        <a:rPr lang="zh-CN" altLang="en-US" smtClean="0"/>
                        <a:t>语法与</a:t>
                      </a:r>
                      <a:r>
                        <a:rPr lang="en-US" altLang="zh-CN" smtClean="0"/>
                        <a:t>allow</a:t>
                      </a:r>
                      <a:r>
                        <a:rPr lang="zh-CN" altLang="en-US" smtClean="0"/>
                        <a:t>语法一样的规则：</a:t>
                      </a:r>
                      <a:endParaRPr lang="en-US" altLang="zh-CN" smtClean="0"/>
                    </a:p>
                    <a:p>
                      <a:r>
                        <a:rPr lang="en-US" altLang="zh-CN" smtClean="0"/>
                        <a:t>    </a:t>
                      </a:r>
                      <a:r>
                        <a:rPr lang="en-US" altLang="zh-CN" err="1" smtClean="0"/>
                        <a:t>rule_name</a:t>
                      </a:r>
                      <a:r>
                        <a:rPr lang="en-US" altLang="zh-CN" smtClean="0"/>
                        <a:t> </a:t>
                      </a:r>
                      <a:r>
                        <a:rPr lang="en-US" altLang="zh-CN" err="1" smtClean="0"/>
                        <a:t>source_type</a:t>
                      </a:r>
                      <a:r>
                        <a:rPr lang="en-US" altLang="zh-CN" smtClean="0"/>
                        <a:t> </a:t>
                      </a:r>
                      <a:r>
                        <a:rPr lang="en-US" altLang="zh-CN" err="1" smtClean="0"/>
                        <a:t>target_type</a:t>
                      </a:r>
                      <a:r>
                        <a:rPr lang="en-US" altLang="zh-CN" smtClean="0"/>
                        <a:t> : class </a:t>
                      </a:r>
                      <a:r>
                        <a:rPr lang="en-US" altLang="zh-CN" err="1" smtClean="0"/>
                        <a:t>perm_set</a:t>
                      </a:r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r>
                        <a:rPr lang="en-US" altLang="zh-CN" err="1" smtClean="0"/>
                        <a:t>neverallow</a:t>
                      </a:r>
                      <a:r>
                        <a:rPr lang="zh-CN" altLang="en-US" smtClean="0"/>
                        <a:t>语句主要需要理解几个特殊符号：</a:t>
                      </a:r>
                      <a:endParaRPr lang="en-US" altLang="zh-CN" smtClean="0"/>
                    </a:p>
                    <a:p>
                      <a:r>
                        <a:rPr lang="en-US" altLang="zh-CN" smtClean="0"/>
                        <a:t># 1</a:t>
                      </a:r>
                      <a:r>
                        <a:rPr lang="zh-CN" altLang="en-US" smtClean="0"/>
                        <a:t>）：</a:t>
                      </a:r>
                      <a:r>
                        <a:rPr lang="en-US" altLang="zh-CN" smtClean="0"/>
                        <a:t>-</a:t>
                      </a:r>
                      <a:r>
                        <a:rPr lang="zh-CN" altLang="en-US" smtClean="0"/>
                        <a:t>号表示去除某项内容。</a:t>
                      </a:r>
                    </a:p>
                    <a:p>
                      <a:r>
                        <a:rPr lang="en-US" altLang="zh-CN" smtClean="0"/>
                        <a:t># 2</a:t>
                      </a:r>
                      <a:r>
                        <a:rPr lang="zh-CN" altLang="en-US" smtClean="0"/>
                        <a:t>）：*号表示所有内容。</a:t>
                      </a:r>
                    </a:p>
                    <a:p>
                      <a:r>
                        <a:rPr lang="en-US" altLang="zh-CN" smtClean="0"/>
                        <a:t># 3</a:t>
                      </a:r>
                      <a:r>
                        <a:rPr lang="zh-CN" altLang="en-US" smtClean="0"/>
                        <a:t>）：</a:t>
                      </a:r>
                      <a:r>
                        <a:rPr lang="en-US" altLang="zh-CN" smtClean="0"/>
                        <a:t>~</a:t>
                      </a:r>
                      <a:r>
                        <a:rPr lang="zh-CN" altLang="en-US" smtClean="0"/>
                        <a:t>号表示除了</a:t>
                      </a:r>
                      <a:r>
                        <a:rPr lang="en-US" altLang="zh-CN" smtClean="0"/>
                        <a:t>{</a:t>
                      </a:r>
                      <a:r>
                        <a:rPr lang="en-US" altLang="zh-CN" err="1" smtClean="0"/>
                        <a:t>perm_set</a:t>
                      </a:r>
                      <a:r>
                        <a:rPr lang="en-US" altLang="zh-CN" smtClean="0"/>
                        <a:t>}</a:t>
                      </a:r>
                      <a:r>
                        <a:rPr lang="zh-CN" altLang="en-US" smtClean="0"/>
                        <a:t>之外，</a:t>
                      </a:r>
                      <a:r>
                        <a:rPr lang="en-US" altLang="zh-CN" smtClean="0"/>
                        <a:t>{</a:t>
                      </a:r>
                      <a:r>
                        <a:rPr lang="en-US" altLang="zh-CN" err="1" smtClean="0"/>
                        <a:t>target_type</a:t>
                      </a:r>
                      <a:r>
                        <a:rPr lang="en-US" altLang="zh-CN" smtClean="0"/>
                        <a:t>}</a:t>
                      </a:r>
                      <a:r>
                        <a:rPr lang="zh-CN" altLang="en-US" smtClean="0"/>
                        <a:t>所拥有的其他操作</a:t>
                      </a:r>
                      <a:endParaRPr lang="en-US" altLang="zh-CN" smtClean="0"/>
                    </a:p>
                    <a:p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81" y="3983732"/>
            <a:ext cx="1052512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238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问题进阶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832747"/>
              </p:ext>
            </p:extLst>
          </p:nvPr>
        </p:nvGraphicFramePr>
        <p:xfrm>
          <a:off x="436056" y="1053530"/>
          <a:ext cx="10801200" cy="4968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493504">
                <a:tc>
                  <a:txBody>
                    <a:bodyPr/>
                    <a:lstStyle/>
                    <a:p>
                      <a:r>
                        <a:rPr lang="en-US" altLang="zh-CN" err="1" smtClean="0"/>
                        <a:t>neverallow</a:t>
                      </a:r>
                      <a:r>
                        <a:rPr lang="zh-CN" altLang="en-US" smtClean="0"/>
                        <a:t>问题案例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4475048">
                <a:tc>
                  <a:txBody>
                    <a:bodyPr/>
                    <a:lstStyle/>
                    <a:p>
                      <a:r>
                        <a:rPr lang="en-US" altLang="zh-CN" sz="2100" b="1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 </a:t>
                      </a:r>
                      <a:r>
                        <a:rPr lang="en-US" altLang="zh-CN" sz="2100" b="1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system_server</a:t>
                      </a:r>
                      <a:r>
                        <a:rPr lang="en-US" altLang="zh-CN" sz="2100" b="1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100" b="1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su_exec:file</a:t>
                      </a:r>
                      <a:r>
                        <a:rPr lang="en-US" altLang="zh-CN" sz="2100" b="1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 execute </a:t>
                      </a:r>
                      <a:r>
                        <a:rPr lang="en-US" altLang="zh-CN" sz="2100" b="1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execute_no_trans</a:t>
                      </a:r>
                      <a:r>
                        <a:rPr lang="en-US" altLang="zh-CN" sz="2100" b="1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read open write };</a:t>
                      </a:r>
                      <a:endParaRPr lang="zh-CN" altLang="zh-CN" sz="210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100" b="1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 </a:t>
                      </a:r>
                      <a:r>
                        <a:rPr lang="en-US" altLang="zh-CN" sz="2100" b="1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system_server</a:t>
                      </a:r>
                      <a:r>
                        <a:rPr lang="en-US" altLang="zh-CN" sz="2100" b="1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100" b="1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su_exec:file</a:t>
                      </a:r>
                      <a:r>
                        <a:rPr lang="en-US" altLang="zh-CN" sz="2100" b="1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 </a:t>
                      </a:r>
                      <a:r>
                        <a:rPr lang="en-US" altLang="zh-CN" sz="2100" b="1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execute_no_trans</a:t>
                      </a:r>
                      <a:r>
                        <a:rPr lang="en-US" altLang="zh-CN" sz="2100" b="1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};</a:t>
                      </a:r>
                      <a:endParaRPr lang="zh-CN" altLang="zh-CN" sz="210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100" b="1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 </a:t>
                      </a:r>
                      <a:r>
                        <a:rPr lang="en-US" altLang="zh-CN" sz="2100" b="1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system_server</a:t>
                      </a:r>
                      <a:r>
                        <a:rPr lang="en-US" altLang="zh-CN" sz="2100" b="1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100" b="1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su_exec:file</a:t>
                      </a:r>
                      <a:r>
                        <a:rPr lang="en-US" altLang="zh-CN" sz="2100" b="1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 read open write };</a:t>
                      </a:r>
                      <a:endParaRPr lang="zh-CN" altLang="zh-CN" sz="210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r>
                        <a:rPr lang="zh-CN" altLang="en-US" smtClean="0"/>
                        <a:t>解决：</a:t>
                      </a:r>
                      <a:r>
                        <a:rPr lang="en-US" altLang="zh-CN" smtClean="0"/>
                        <a:t>-</a:t>
                      </a:r>
                      <a:r>
                        <a:rPr lang="en-US" altLang="zh-CN" err="1" smtClean="0"/>
                        <a:t>system_server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90" y="2925738"/>
            <a:ext cx="1035367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607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问题进阶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942876"/>
              </p:ext>
            </p:extLst>
          </p:nvPr>
        </p:nvGraphicFramePr>
        <p:xfrm>
          <a:off x="436056" y="1053530"/>
          <a:ext cx="10801200" cy="4712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460656">
                <a:tc>
                  <a:txBody>
                    <a:bodyPr/>
                    <a:lstStyle/>
                    <a:p>
                      <a:r>
                        <a:rPr lang="en-US" altLang="zh-CN" smtClean="0"/>
                        <a:t>type</a:t>
                      </a:r>
                      <a:r>
                        <a:rPr lang="zh-CN" altLang="en-US" smtClean="0"/>
                        <a:t>和</a:t>
                      </a:r>
                      <a:r>
                        <a:rPr lang="en-US" altLang="zh-CN" smtClean="0"/>
                        <a:t>attribute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4177187">
                <a:tc>
                  <a:txBody>
                    <a:bodyPr/>
                    <a:lstStyle/>
                    <a:p>
                      <a:r>
                        <a:rPr lang="en-US" altLang="zh-CN" smtClean="0"/>
                        <a:t>type</a:t>
                      </a:r>
                      <a:r>
                        <a:rPr lang="zh-CN" altLang="en-US" smtClean="0"/>
                        <a:t>命令的格式为：</a:t>
                      </a:r>
                      <a:r>
                        <a:rPr lang="en-US" altLang="zh-CN" smtClean="0"/>
                        <a:t>type </a:t>
                      </a:r>
                      <a:r>
                        <a:rPr lang="en-US" altLang="zh-CN" err="1" smtClean="0"/>
                        <a:t>type_id</a:t>
                      </a:r>
                      <a:r>
                        <a:rPr lang="en-US" altLang="zh-CN" smtClean="0"/>
                        <a:t>  [</a:t>
                      </a:r>
                      <a:r>
                        <a:rPr lang="en-US" altLang="zh-CN" err="1" smtClean="0"/>
                        <a:t>attribute_id</a:t>
                      </a:r>
                      <a:r>
                        <a:rPr lang="en-US" altLang="zh-CN" smtClean="0"/>
                        <a:t>]</a:t>
                      </a:r>
                    </a:p>
                    <a:p>
                      <a:endParaRPr lang="en-US" altLang="zh-CN" smtClean="0"/>
                    </a:p>
                    <a:p>
                      <a:r>
                        <a:rPr lang="en-US" altLang="zh-CN" smtClean="0"/>
                        <a:t>#</a:t>
                      </a:r>
                      <a:r>
                        <a:rPr lang="zh-CN" altLang="en-US" smtClean="0"/>
                        <a:t>下面的例子定义了一个名为</a:t>
                      </a:r>
                      <a:r>
                        <a:rPr lang="en-US" altLang="zh-CN" smtClean="0"/>
                        <a:t>shell</a:t>
                      </a:r>
                      <a:r>
                        <a:rPr lang="zh-CN" altLang="en-US" smtClean="0"/>
                        <a:t>的</a:t>
                      </a:r>
                      <a:r>
                        <a:rPr lang="en-US" altLang="zh-CN" smtClean="0"/>
                        <a:t>type</a:t>
                      </a:r>
                      <a:r>
                        <a:rPr lang="zh-CN" altLang="en-US" smtClean="0"/>
                        <a:t>，它和一个名为</a:t>
                      </a:r>
                      <a:r>
                        <a:rPr lang="en-US" altLang="zh-CN" smtClean="0"/>
                        <a:t>domain</a:t>
                      </a:r>
                      <a:r>
                        <a:rPr lang="zh-CN" altLang="en-US" smtClean="0"/>
                        <a:t>的属性（</a:t>
                      </a:r>
                      <a:r>
                        <a:rPr lang="en-US" altLang="zh-CN" smtClean="0"/>
                        <a:t>attribute</a:t>
                      </a:r>
                      <a:r>
                        <a:rPr lang="zh-CN" altLang="en-US" smtClean="0"/>
                        <a:t>）关联</a:t>
                      </a:r>
                    </a:p>
                    <a:p>
                      <a:endParaRPr lang="zh-CN" altLang="en-US" smtClean="0"/>
                    </a:p>
                    <a:p>
                      <a:r>
                        <a:rPr lang="en-US" altLang="zh-CN" smtClean="0"/>
                        <a:t>type shell, domain; #</a:t>
                      </a:r>
                      <a:r>
                        <a:rPr lang="zh-CN" altLang="en-US" smtClean="0"/>
                        <a:t>注：可以关联多个</a:t>
                      </a:r>
                      <a:r>
                        <a:rPr lang="en-US" altLang="zh-CN" smtClean="0"/>
                        <a:t>attribute, domain</a:t>
                      </a:r>
                      <a:r>
                        <a:rPr lang="zh-CN" altLang="en-US" smtClean="0"/>
                        <a:t>实际上所有</a:t>
                      </a:r>
                      <a:r>
                        <a:rPr lang="en-US" altLang="zh-CN" smtClean="0"/>
                        <a:t>type</a:t>
                      </a:r>
                      <a:r>
                        <a:rPr lang="zh-CN" altLang="en-US" smtClean="0"/>
                        <a:t>都会关联。</a:t>
                      </a:r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r>
                        <a:rPr lang="zh-CN" altLang="en-US" smtClean="0"/>
                        <a:t>如果在定义的时候没有关联，也可以单独再进行关联：</a:t>
                      </a:r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r>
                        <a:rPr lang="en-US" altLang="zh-CN" err="1" smtClean="0"/>
                        <a:t>typeattribute</a:t>
                      </a:r>
                      <a:r>
                        <a:rPr lang="en-US" altLang="zh-CN" smtClean="0"/>
                        <a:t> shell </a:t>
                      </a:r>
                      <a:r>
                        <a:rPr lang="en-US" altLang="zh-CN" err="1" smtClean="0"/>
                        <a:t>mlstrustedsubject</a:t>
                      </a:r>
                      <a:r>
                        <a:rPr lang="en-US" altLang="zh-CN" smtClean="0"/>
                        <a:t>;</a:t>
                      </a:r>
                    </a:p>
                    <a:p>
                      <a:endParaRPr lang="en-US" altLang="zh-CN" smtClean="0"/>
                    </a:p>
                    <a:p>
                      <a:r>
                        <a:rPr lang="en-US" altLang="zh-CN" smtClean="0"/>
                        <a:t>attribute</a:t>
                      </a:r>
                      <a:r>
                        <a:rPr lang="zh-CN" altLang="en-US" smtClean="0"/>
                        <a:t>可以理解为类似</a:t>
                      </a:r>
                      <a:r>
                        <a:rPr lang="en-US" altLang="zh-CN" smtClean="0"/>
                        <a:t>type</a:t>
                      </a:r>
                      <a:r>
                        <a:rPr lang="zh-CN" altLang="en-US" smtClean="0"/>
                        <a:t>（或</a:t>
                      </a:r>
                      <a:r>
                        <a:rPr lang="en-US" altLang="zh-CN" smtClean="0"/>
                        <a:t>domain</a:t>
                      </a:r>
                      <a:r>
                        <a:rPr lang="zh-CN" altLang="en-US" smtClean="0"/>
                        <a:t>） 的</a:t>
                      </a:r>
                      <a:r>
                        <a:rPr lang="en-US" altLang="zh-CN" smtClean="0"/>
                        <a:t>group</a:t>
                      </a:r>
                      <a:r>
                        <a:rPr lang="zh-CN" altLang="en-US" smtClean="0"/>
                        <a:t>这样的概念。多个</a:t>
                      </a:r>
                      <a:r>
                        <a:rPr lang="en-US" altLang="zh-CN" smtClean="0"/>
                        <a:t>type</a:t>
                      </a:r>
                      <a:r>
                        <a:rPr lang="zh-CN" altLang="en-US" smtClean="0"/>
                        <a:t>关联同一个</a:t>
                      </a:r>
                      <a:r>
                        <a:rPr lang="en-US" altLang="zh-CN" smtClean="0"/>
                        <a:t>attribute</a:t>
                      </a:r>
                      <a:r>
                        <a:rPr lang="zh-CN" altLang="en-US" smtClean="0"/>
                        <a:t>，那么我们在赋权限时只需要赋</a:t>
                      </a:r>
                      <a:r>
                        <a:rPr lang="en-US" altLang="zh-CN" smtClean="0"/>
                        <a:t>attribute</a:t>
                      </a:r>
                      <a:r>
                        <a:rPr lang="zh-CN" altLang="en-US" smtClean="0"/>
                        <a:t>，同理多个</a:t>
                      </a:r>
                      <a:r>
                        <a:rPr lang="en-US" altLang="zh-CN" smtClean="0"/>
                        <a:t>type</a:t>
                      </a:r>
                      <a:r>
                        <a:rPr lang="zh-CN" altLang="en-US" smtClean="0"/>
                        <a:t>需要某个</a:t>
                      </a:r>
                      <a:r>
                        <a:rPr lang="en-US" altLang="zh-CN" smtClean="0"/>
                        <a:t>attribute</a:t>
                      </a:r>
                      <a:r>
                        <a:rPr lang="zh-CN" altLang="en-US" smtClean="0"/>
                        <a:t>的一样的权限，只需要关联这个</a:t>
                      </a:r>
                      <a:r>
                        <a:rPr lang="en-US" altLang="zh-CN" smtClean="0"/>
                        <a:t>attribute</a:t>
                      </a:r>
                      <a:r>
                        <a:rPr lang="zh-CN" altLang="en-US" smtClean="0"/>
                        <a:t>。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374" y="3285778"/>
            <a:ext cx="317182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208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问题进阶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560881"/>
              </p:ext>
            </p:extLst>
          </p:nvPr>
        </p:nvGraphicFramePr>
        <p:xfrm>
          <a:off x="436056" y="1053530"/>
          <a:ext cx="10801200" cy="5112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507808">
                <a:tc>
                  <a:txBody>
                    <a:bodyPr/>
                    <a:lstStyle/>
                    <a:p>
                      <a:r>
                        <a:rPr lang="en-US" altLang="zh-CN" smtClean="0"/>
                        <a:t>type</a:t>
                      </a:r>
                      <a:r>
                        <a:rPr lang="zh-CN" altLang="en-US" smtClean="0"/>
                        <a:t>和</a:t>
                      </a:r>
                      <a:r>
                        <a:rPr lang="en-US" altLang="zh-CN" smtClean="0"/>
                        <a:t>attribute</a:t>
                      </a:r>
                      <a:r>
                        <a:rPr lang="zh-CN" altLang="en-US" smtClean="0"/>
                        <a:t>案例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4604760">
                <a:tc>
                  <a:txBody>
                    <a:bodyPr/>
                    <a:lstStyle/>
                    <a:p>
                      <a:r>
                        <a:rPr lang="en-US" altLang="zh-CN" err="1" smtClean="0"/>
                        <a:t>neverallow</a:t>
                      </a:r>
                      <a:r>
                        <a:rPr lang="en-US" altLang="zh-CN" smtClean="0"/>
                        <a:t> check failed at out/target/product/msm8909/</a:t>
                      </a:r>
                      <a:r>
                        <a:rPr lang="en-US" altLang="zh-CN" err="1" smtClean="0"/>
                        <a:t>obj</a:t>
                      </a:r>
                      <a:r>
                        <a:rPr lang="en-US" altLang="zh-CN" smtClean="0"/>
                        <a:t>/ETC/</a:t>
                      </a:r>
                      <a:r>
                        <a:rPr lang="en-US" altLang="zh-CN" err="1" smtClean="0"/>
                        <a:t>plat_sepolicy.cil_intermediates</a:t>
                      </a:r>
                      <a:r>
                        <a:rPr lang="en-US" altLang="zh-CN" smtClean="0"/>
                        <a:t>/plat_sepolicy.cil:4414 </a:t>
                      </a:r>
                      <a:r>
                        <a:rPr lang="en-US" altLang="zh-CN" err="1" smtClean="0"/>
                        <a:t>fromsystem</a:t>
                      </a:r>
                      <a:r>
                        <a:rPr lang="en-US" altLang="zh-CN" smtClean="0"/>
                        <a:t>/sepolicy/public/domain.te:466(</a:t>
                      </a:r>
                      <a:r>
                        <a:rPr lang="en-US" altLang="zh-CN" err="1" smtClean="0"/>
                        <a:t>neverallow</a:t>
                      </a:r>
                      <a:r>
                        <a:rPr lang="en-US" altLang="zh-CN" smtClean="0"/>
                        <a:t> base_typeattr_32 </a:t>
                      </a:r>
                      <a:r>
                        <a:rPr lang="en-US" altLang="zh-CN" err="1" smtClean="0"/>
                        <a:t>firstboot_prop</a:t>
                      </a:r>
                      <a:r>
                        <a:rPr lang="en-US" altLang="zh-CN" smtClean="0"/>
                        <a:t> (file (</a:t>
                      </a:r>
                      <a:r>
                        <a:rPr lang="en-US" altLang="zh-CN" err="1" smtClean="0"/>
                        <a:t>ioctl</a:t>
                      </a:r>
                      <a:r>
                        <a:rPr lang="en-US" altLang="zh-CN" smtClean="0"/>
                        <a:t> read </a:t>
                      </a:r>
                      <a:r>
                        <a:rPr lang="en-US" altLang="zh-CN" err="1" smtClean="0"/>
                        <a:t>getattr</a:t>
                      </a:r>
                      <a:r>
                        <a:rPr lang="en-US" altLang="zh-CN" smtClean="0"/>
                        <a:t> lock map open)))&lt;root&gt;</a:t>
                      </a:r>
                    </a:p>
                    <a:p>
                      <a:r>
                        <a:rPr lang="en-US" altLang="zh-CN" smtClean="0"/>
                        <a:t>allow at out/target/product/msm8909/</a:t>
                      </a:r>
                      <a:r>
                        <a:rPr lang="en-US" altLang="zh-CN" err="1" smtClean="0"/>
                        <a:t>obj</a:t>
                      </a:r>
                      <a:r>
                        <a:rPr lang="en-US" altLang="zh-CN" smtClean="0"/>
                        <a:t>/ETC/</a:t>
                      </a:r>
                      <a:r>
                        <a:rPr lang="en-US" altLang="zh-CN" err="1" smtClean="0"/>
                        <a:t>nonplat_sepolicy.cil_intermediates</a:t>
                      </a:r>
                      <a:r>
                        <a:rPr lang="en-US" altLang="zh-CN" smtClean="0"/>
                        <a:t>/nonplat_sepolicy.cil:8506(allow </a:t>
                      </a:r>
                      <a:r>
                        <a:rPr lang="en-US" altLang="zh-CN" err="1" smtClean="0"/>
                        <a:t>gpsd</a:t>
                      </a:r>
                      <a:r>
                        <a:rPr lang="en-US" altLang="zh-CN" smtClean="0"/>
                        <a:t> firstboot_prop_27_0 (file (</a:t>
                      </a:r>
                      <a:r>
                        <a:rPr lang="en-US" altLang="zh-CN" err="1" smtClean="0"/>
                        <a:t>getattr</a:t>
                      </a:r>
                      <a:r>
                        <a:rPr lang="en-US" altLang="zh-CN" smtClean="0"/>
                        <a:t> open)))</a:t>
                      </a:r>
                    </a:p>
                    <a:p>
                      <a:endParaRPr lang="en-US" altLang="zh-CN" smtClean="0"/>
                    </a:p>
                    <a:p>
                      <a:r>
                        <a:rPr lang="zh-CN" altLang="en-US" smtClean="0"/>
                        <a:t>分析这个错误</a:t>
                      </a:r>
                      <a:r>
                        <a:rPr lang="en-US" altLang="zh-CN" smtClean="0"/>
                        <a:t>log</a:t>
                      </a:r>
                      <a:r>
                        <a:rPr lang="zh-CN" altLang="en-US" smtClean="0"/>
                        <a:t>，由于我们添加的以下语句违反了</a:t>
                      </a:r>
                      <a:r>
                        <a:rPr lang="en-US" altLang="zh-CN" err="1" smtClean="0"/>
                        <a:t>neverallow</a:t>
                      </a:r>
                      <a:r>
                        <a:rPr lang="zh-CN" altLang="en-US" smtClean="0"/>
                        <a:t>：</a:t>
                      </a:r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gpsdfirstboot_prop:file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getattropen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};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67313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问题进阶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68102"/>
              </p:ext>
            </p:extLst>
          </p:nvPr>
        </p:nvGraphicFramePr>
        <p:xfrm>
          <a:off x="436056" y="1053530"/>
          <a:ext cx="10801200" cy="5112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507808">
                <a:tc>
                  <a:txBody>
                    <a:bodyPr/>
                    <a:lstStyle/>
                    <a:p>
                      <a:r>
                        <a:rPr lang="en-US" altLang="zh-CN" smtClean="0"/>
                        <a:t>type</a:t>
                      </a:r>
                      <a:r>
                        <a:rPr lang="zh-CN" altLang="en-US" smtClean="0"/>
                        <a:t>和</a:t>
                      </a:r>
                      <a:r>
                        <a:rPr lang="en-US" altLang="zh-CN" smtClean="0"/>
                        <a:t>attribute</a:t>
                      </a:r>
                      <a:r>
                        <a:rPr lang="zh-CN" altLang="en-US" smtClean="0"/>
                        <a:t>案例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4604760">
                <a:tc>
                  <a:txBody>
                    <a:bodyPr/>
                    <a:lstStyle/>
                    <a:p>
                      <a:r>
                        <a:rPr lang="zh-CN" altLang="en-US" smtClean="0"/>
                        <a:t>找到</a:t>
                      </a:r>
                      <a:r>
                        <a:rPr lang="en-US" altLang="zh-CN" err="1" smtClean="0"/>
                        <a:t>neverallow</a:t>
                      </a:r>
                      <a:r>
                        <a:rPr lang="zh-CN" altLang="en-US" smtClean="0"/>
                        <a:t>的语句：</a:t>
                      </a:r>
                      <a:endParaRPr lang="en-US" altLang="zh-CN" smtClean="0"/>
                    </a:p>
                    <a:p>
                      <a:r>
                        <a:rPr lang="en-US" altLang="zh-CN" smtClean="0"/>
                        <a:t> </a:t>
                      </a:r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r>
                        <a:rPr lang="zh-CN" altLang="en-US" smtClean="0"/>
                        <a:t>解决：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typeattribute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gpsd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system_server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90" y="2277666"/>
            <a:ext cx="6841009" cy="302433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540995" y="2303946"/>
            <a:ext cx="3384376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在这里看到</a:t>
            </a:r>
            <a:r>
              <a:rPr lang="en-US" altLang="zh-CN" err="1" smtClean="0"/>
              <a:t>neverallow</a:t>
            </a:r>
            <a:r>
              <a:rPr lang="zh-CN" altLang="en-US" smtClean="0"/>
              <a:t>语句对添加了</a:t>
            </a:r>
            <a:r>
              <a:rPr lang="en-US" altLang="zh-CN" smtClean="0"/>
              <a:t>domain</a:t>
            </a:r>
            <a:r>
              <a:rPr lang="zh-CN" altLang="en-US" smtClean="0"/>
              <a:t>的</a:t>
            </a:r>
            <a:r>
              <a:rPr lang="en-US" altLang="zh-CN" smtClean="0"/>
              <a:t>attribute</a:t>
            </a:r>
            <a:r>
              <a:rPr lang="zh-CN" altLang="en-US" smtClean="0"/>
              <a:t>生效，但是也用</a:t>
            </a:r>
            <a:r>
              <a:rPr lang="en-US" altLang="zh-CN" smtClean="0"/>
              <a:t>-</a:t>
            </a:r>
            <a:r>
              <a:rPr lang="zh-CN" altLang="en-US" smtClean="0"/>
              <a:t>排除了一些</a:t>
            </a:r>
            <a:r>
              <a:rPr lang="en-US" altLang="zh-CN" smtClean="0"/>
              <a:t>type</a:t>
            </a:r>
            <a:r>
              <a:rPr lang="zh-CN" altLang="en-US" smtClean="0"/>
              <a:t>，所以解决这个问题在不修改</a:t>
            </a:r>
            <a:r>
              <a:rPr lang="en-US" altLang="zh-CN" err="1" smtClean="0"/>
              <a:t>domain.te</a:t>
            </a:r>
            <a:r>
              <a:rPr lang="zh-CN" altLang="en-US" smtClean="0"/>
              <a:t>的情况下，我们可以将受限制的</a:t>
            </a:r>
            <a:r>
              <a:rPr lang="en-US" altLang="zh-CN" err="1" smtClean="0"/>
              <a:t>te</a:t>
            </a:r>
            <a:r>
              <a:rPr lang="zh-CN" altLang="en-US" smtClean="0"/>
              <a:t>与被放行的</a:t>
            </a:r>
            <a:r>
              <a:rPr lang="en-US" altLang="zh-CN" smtClean="0"/>
              <a:t>type</a:t>
            </a:r>
            <a:r>
              <a:rPr lang="zh-CN" altLang="en-US" smtClean="0"/>
              <a:t>或者</a:t>
            </a:r>
            <a:r>
              <a:rPr lang="en-US" altLang="zh-CN" smtClean="0"/>
              <a:t>attribute</a:t>
            </a:r>
            <a:r>
              <a:rPr lang="zh-CN" altLang="en-US" smtClean="0"/>
              <a:t>进行关联，避免被</a:t>
            </a:r>
            <a:r>
              <a:rPr lang="en-US" altLang="zh-CN" err="1" smtClean="0"/>
              <a:t>neverallow</a:t>
            </a:r>
            <a:r>
              <a:rPr lang="zh-CN" altLang="en-US" smtClean="0"/>
              <a:t>限制。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7141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问题进阶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62"/>
              </p:ext>
            </p:extLst>
          </p:nvPr>
        </p:nvGraphicFramePr>
        <p:xfrm>
          <a:off x="436056" y="1053530"/>
          <a:ext cx="10801200" cy="50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500656">
                <a:tc>
                  <a:txBody>
                    <a:bodyPr/>
                    <a:lstStyle/>
                    <a:p>
                      <a:r>
                        <a:rPr lang="en-US" altLang="zh-CN" smtClean="0"/>
                        <a:t>domain</a:t>
                      </a:r>
                      <a:r>
                        <a:rPr lang="zh-CN" altLang="en-US" smtClean="0"/>
                        <a:t>转换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4539904">
                <a:tc>
                  <a:txBody>
                    <a:bodyPr/>
                    <a:lstStyle/>
                    <a:p>
                      <a:r>
                        <a:rPr lang="en-US" altLang="zh-CN" smtClean="0"/>
                        <a:t>1</a:t>
                      </a:r>
                      <a:r>
                        <a:rPr lang="zh-CN" altLang="en-US" smtClean="0"/>
                        <a:t>，什么是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Domain Transition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一个进程从一个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Domain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切换到另一个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Domain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zh-CN" altLang="en-US" smtClean="0"/>
                        <a:t>为何要进行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Domain Transition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限制权限：如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在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拉起了很多服务，但是不可能都给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Domain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，那样权限太大了，需要进行切换。</a:t>
                      </a:r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提升权限：如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install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命令，涉及到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odex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操作，需要切换到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odex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Domain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mtClean="0"/>
                        <a:t>3</a:t>
                      </a:r>
                      <a:r>
                        <a:rPr lang="zh-CN" altLang="en-US" smtClean="0"/>
                        <a:t>，</a:t>
                      </a:r>
                      <a:r>
                        <a:rPr lang="en-US" altLang="zh-CN" smtClean="0"/>
                        <a:t>Domain Transition</a:t>
                      </a:r>
                      <a:r>
                        <a:rPr lang="zh-CN" altLang="en-US" smtClean="0"/>
                        <a:t>语法：</a:t>
                      </a:r>
                      <a:endParaRPr lang="en-US" altLang="zh-CN" smtClean="0"/>
                    </a:p>
                    <a:p>
                      <a:r>
                        <a:rPr lang="en-US" altLang="zh-CN" smtClean="0"/>
                        <a:t>      </a:t>
                      </a:r>
                      <a:r>
                        <a:rPr lang="zh-CN" altLang="en-US" smtClean="0"/>
                        <a:t>在</a:t>
                      </a:r>
                      <a:r>
                        <a:rPr lang="en-US" altLang="zh-CN" smtClean="0"/>
                        <a:t>Android</a:t>
                      </a:r>
                      <a:r>
                        <a:rPr lang="zh-CN" altLang="en-US" smtClean="0"/>
                        <a:t>中，已经为</a:t>
                      </a:r>
                      <a:r>
                        <a:rPr lang="en-US" altLang="zh-CN" smtClean="0"/>
                        <a:t>domain transition</a:t>
                      </a:r>
                      <a:r>
                        <a:rPr lang="zh-CN" altLang="en-US" smtClean="0"/>
                        <a:t>定义了相关宏：</a:t>
                      </a:r>
                      <a:endParaRPr lang="en-US" altLang="zh-CN" smtClean="0"/>
                    </a:p>
                    <a:p>
                      <a:r>
                        <a:rPr lang="en-US" altLang="zh-CN" smtClean="0"/>
                        <a:t>      1</a:t>
                      </a:r>
                      <a:r>
                        <a:rPr lang="zh-CN" altLang="en-US" smtClean="0"/>
                        <a:t>：</a:t>
                      </a:r>
                      <a:r>
                        <a:rPr lang="en-US" altLang="zh-CN" err="1" smtClean="0"/>
                        <a:t>domain_auto_trans</a:t>
                      </a:r>
                      <a:r>
                        <a:rPr lang="en-US" altLang="zh-CN" smtClean="0"/>
                        <a:t>(</a:t>
                      </a:r>
                      <a:r>
                        <a:rPr lang="en-US" altLang="zh-CN" err="1" smtClean="0"/>
                        <a:t>olddomain</a:t>
                      </a:r>
                      <a:r>
                        <a:rPr lang="en-US" altLang="zh-CN" smtClean="0"/>
                        <a:t>, type, </a:t>
                      </a:r>
                      <a:r>
                        <a:rPr lang="en-US" altLang="zh-CN" err="1" smtClean="0"/>
                        <a:t>newdomain</a:t>
                      </a:r>
                      <a:r>
                        <a:rPr lang="en-US" altLang="zh-CN" smtClean="0"/>
                        <a:t>)</a:t>
                      </a:r>
                    </a:p>
                    <a:p>
                      <a:r>
                        <a:rPr lang="en-US" altLang="zh-CN" smtClean="0"/>
                        <a:t>      2</a:t>
                      </a:r>
                      <a:r>
                        <a:rPr lang="zh-CN" altLang="en-US" smtClean="0"/>
                        <a:t>：</a:t>
                      </a:r>
                      <a:r>
                        <a:rPr lang="en-US" altLang="zh-CN" err="1" smtClean="0"/>
                        <a:t>init_daemon_domain</a:t>
                      </a:r>
                      <a:r>
                        <a:rPr lang="en-US" altLang="zh-CN" smtClean="0"/>
                        <a:t> </a:t>
                      </a:r>
                      <a:r>
                        <a:rPr lang="zh-CN" altLang="en-US" smtClean="0"/>
                        <a:t>（</a:t>
                      </a:r>
                      <a:r>
                        <a:rPr lang="en-US" altLang="zh-CN" err="1" smtClean="0"/>
                        <a:t>domain_auto_trans</a:t>
                      </a:r>
                      <a:r>
                        <a:rPr lang="en-US" altLang="zh-CN" smtClean="0"/>
                        <a:t>(</a:t>
                      </a:r>
                      <a:r>
                        <a:rPr lang="en-US" altLang="zh-CN" err="1" smtClean="0"/>
                        <a:t>init</a:t>
                      </a:r>
                      <a:r>
                        <a:rPr lang="en-US" altLang="zh-CN" smtClean="0"/>
                        <a:t>, $1_exec, $1)</a:t>
                      </a:r>
                      <a:r>
                        <a:rPr lang="zh-CN" altLang="en-US" smtClean="0"/>
                        <a:t>）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85415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问题进阶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578736"/>
              </p:ext>
            </p:extLst>
          </p:nvPr>
        </p:nvGraphicFramePr>
        <p:xfrm>
          <a:off x="436056" y="1053530"/>
          <a:ext cx="10801200" cy="50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500656">
                <a:tc>
                  <a:txBody>
                    <a:bodyPr/>
                    <a:lstStyle/>
                    <a:p>
                      <a:r>
                        <a:rPr lang="en-US" altLang="zh-CN" sz="2100" b="1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</a:t>
                      </a:r>
                      <a:r>
                        <a:rPr lang="zh-CN" altLang="en-US" b="1" smtClean="0"/>
                        <a:t>转换</a:t>
                      </a:r>
                      <a:endParaRPr lang="zh-CN" alt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4539904">
                <a:tc>
                  <a:txBody>
                    <a:bodyPr/>
                    <a:lstStyle/>
                    <a:p>
                      <a:r>
                        <a:rPr lang="en-US" altLang="zh-CN" smtClean="0"/>
                        <a:t>1</a:t>
                      </a:r>
                      <a:r>
                        <a:rPr lang="zh-CN" altLang="en-US" smtClean="0"/>
                        <a:t>，什么是</a:t>
                      </a:r>
                      <a:r>
                        <a:rPr lang="en-US" altLang="zh-CN" smtClean="0"/>
                        <a:t>Object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Transition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一个文件从一个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type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切换成另一个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type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zh-CN" altLang="en-US" smtClean="0"/>
                        <a:t>为何要进行</a:t>
                      </a:r>
                      <a:r>
                        <a:rPr lang="en-US" altLang="zh-CN" smtClean="0"/>
                        <a:t>Object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Transition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一个进程创建在一个目录下创建文件时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默认是沿用父目录的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Security Context, 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如果要设置成特定的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Label, 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就必须进行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Transitions.</a:t>
                      </a:r>
                    </a:p>
                    <a:p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mtClean="0"/>
                        <a:t>3</a:t>
                      </a:r>
                      <a:r>
                        <a:rPr lang="zh-CN" altLang="en-US" smtClean="0"/>
                        <a:t>，</a:t>
                      </a:r>
                      <a:r>
                        <a:rPr lang="en-US" altLang="zh-CN" smtClean="0"/>
                        <a:t>Object Transition</a:t>
                      </a:r>
                      <a:r>
                        <a:rPr lang="zh-CN" altLang="en-US" smtClean="0"/>
                        <a:t>语法：</a:t>
                      </a:r>
                      <a:endParaRPr lang="en-US" altLang="zh-CN" smtClean="0"/>
                    </a:p>
                    <a:p>
                      <a:r>
                        <a:rPr lang="en-US" altLang="zh-CN" smtClean="0"/>
                        <a:t>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958" y="3789834"/>
            <a:ext cx="668655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5690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问题进阶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820371"/>
              </p:ext>
            </p:extLst>
          </p:nvPr>
        </p:nvGraphicFramePr>
        <p:xfrm>
          <a:off x="436056" y="1053530"/>
          <a:ext cx="10801200" cy="4637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460656">
                <a:tc>
                  <a:txBody>
                    <a:bodyPr/>
                    <a:lstStyle/>
                    <a:p>
                      <a:r>
                        <a:rPr lang="en-US" altLang="zh-CN" smtClean="0"/>
                        <a:t>domain</a:t>
                      </a:r>
                      <a:r>
                        <a:rPr lang="zh-CN" altLang="en-US" smtClean="0"/>
                        <a:t>转换案例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4177187">
                <a:tc>
                  <a:txBody>
                    <a:bodyPr/>
                    <a:lstStyle/>
                    <a:p>
                      <a:r>
                        <a:rPr lang="zh-CN" altLang="en-US" smtClean="0"/>
                        <a:t>我们在</a:t>
                      </a:r>
                      <a:r>
                        <a:rPr lang="en-US" altLang="zh-CN" err="1" smtClean="0"/>
                        <a:t>init</a:t>
                      </a:r>
                      <a:r>
                        <a:rPr lang="zh-CN" altLang="en-US" smtClean="0"/>
                        <a:t>中添加了一个服务启动一个脚本，启动时报如下错：</a:t>
                      </a:r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r>
                        <a:rPr lang="zh-CN" altLang="en-US" smtClean="0"/>
                        <a:t>解决方案：</a:t>
                      </a:r>
                      <a:endParaRPr lang="en-US" altLang="zh-CN" smtClean="0"/>
                    </a:p>
                    <a:p>
                      <a:r>
                        <a:rPr lang="zh-CN" altLang="en-US" smtClean="0"/>
                        <a:t>一，在</a:t>
                      </a:r>
                      <a:r>
                        <a:rPr lang="en-US" altLang="zh-CN" err="1" smtClean="0"/>
                        <a:t>init.qcom.rc</a:t>
                      </a:r>
                      <a:r>
                        <a:rPr lang="zh-CN" altLang="en-US" smtClean="0"/>
                        <a:t>中：                                          二，在</a:t>
                      </a:r>
                      <a:r>
                        <a:rPr lang="en-US" altLang="zh-CN" err="1" smtClean="0"/>
                        <a:t>mystart_shell.te</a:t>
                      </a:r>
                      <a:r>
                        <a:rPr lang="zh-CN" altLang="en-US" smtClean="0"/>
                        <a:t>中：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90" y="1917626"/>
            <a:ext cx="9163050" cy="129614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90" y="4221882"/>
            <a:ext cx="3886200" cy="1371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230" y="4221882"/>
            <a:ext cx="436245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2899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问题进阶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259798"/>
              </p:ext>
            </p:extLst>
          </p:nvPr>
        </p:nvGraphicFramePr>
        <p:xfrm>
          <a:off x="436056" y="1053530"/>
          <a:ext cx="10801200" cy="4637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460656">
                <a:tc>
                  <a:txBody>
                    <a:bodyPr/>
                    <a:lstStyle/>
                    <a:p>
                      <a:pPr marL="0" marR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mtClean="0"/>
                        <a:t>Security Level</a:t>
                      </a:r>
                      <a:r>
                        <a:rPr lang="zh-CN" altLang="en-US" smtClean="0"/>
                        <a:t>和</a:t>
                      </a:r>
                      <a:r>
                        <a:rPr lang="en-US" altLang="zh-CN" smtClean="0"/>
                        <a:t>MLS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4177187">
                <a:tc>
                  <a:txBody>
                    <a:bodyPr/>
                    <a:lstStyle/>
                    <a:p>
                      <a:r>
                        <a:rPr lang="en-US" altLang="zh-CN" smtClean="0"/>
                        <a:t>Multi-Lever Security</a:t>
                      </a:r>
                      <a:r>
                        <a:rPr lang="zh-CN" altLang="en-US" smtClean="0"/>
                        <a:t>，多等级安全，一个</a:t>
                      </a:r>
                      <a:r>
                        <a:rPr lang="en-US" altLang="zh-CN" smtClean="0"/>
                        <a:t>Scontext</a:t>
                      </a:r>
                      <a:r>
                        <a:rPr lang="zh-CN" altLang="en-US" smtClean="0"/>
                        <a:t>的完整格式：</a:t>
                      </a:r>
                      <a:endParaRPr lang="en-US" altLang="zh-CN" smtClean="0"/>
                    </a:p>
                    <a:p>
                      <a:r>
                        <a:rPr lang="en-US" altLang="zh-CN" smtClean="0"/>
                        <a:t>    </a:t>
                      </a:r>
                      <a:r>
                        <a:rPr lang="en-US" altLang="zh-CN" err="1" smtClean="0"/>
                        <a:t>user:role:type:sensitivity</a:t>
                      </a:r>
                      <a:r>
                        <a:rPr lang="en-US" altLang="zh-CN" smtClean="0"/>
                        <a:t>[:category,...]- sensitivity [:category,...]</a:t>
                      </a:r>
                    </a:p>
                    <a:p>
                      <a:endParaRPr lang="en-US" altLang="zh-CN" smtClean="0"/>
                    </a:p>
                    <a:p>
                      <a:r>
                        <a:rPr lang="en-US" altLang="zh-CN" err="1" smtClean="0"/>
                        <a:t>SEAndroid</a:t>
                      </a:r>
                      <a:r>
                        <a:rPr lang="zh-CN" altLang="en-US" smtClean="0"/>
                        <a:t>中的</a:t>
                      </a:r>
                      <a:r>
                        <a:rPr lang="en-US" altLang="zh-CN" smtClean="0"/>
                        <a:t>MLS</a:t>
                      </a:r>
                      <a:r>
                        <a:rPr lang="zh-CN" altLang="en-US" smtClean="0"/>
                        <a:t>有一定简化：</a:t>
                      </a:r>
                    </a:p>
                    <a:p>
                      <a:r>
                        <a:rPr lang="zh-CN" altLang="en-US" smtClean="0"/>
                        <a:t>    </a:t>
                      </a:r>
                      <a:r>
                        <a:rPr lang="en-US" altLang="zh-CN" smtClean="0"/>
                        <a:t>1</a:t>
                      </a:r>
                      <a:r>
                        <a:rPr lang="zh-CN" altLang="en-US" smtClean="0"/>
                        <a:t>，系统中只有一个</a:t>
                      </a:r>
                      <a:r>
                        <a:rPr lang="en-US" altLang="zh-CN" smtClean="0"/>
                        <a:t>sensitivity level</a:t>
                      </a:r>
                      <a:r>
                        <a:rPr lang="zh-CN" altLang="en-US" smtClean="0"/>
                        <a:t>，即</a:t>
                      </a:r>
                      <a:r>
                        <a:rPr lang="en-US" altLang="zh-CN" smtClean="0"/>
                        <a:t>s0</a:t>
                      </a:r>
                      <a:r>
                        <a:rPr lang="zh-CN" altLang="en-US" smtClean="0"/>
                        <a:t>。</a:t>
                      </a:r>
                    </a:p>
                    <a:p>
                      <a:r>
                        <a:rPr lang="zh-CN" altLang="en-US" smtClean="0"/>
                        <a:t>    </a:t>
                      </a:r>
                      <a:r>
                        <a:rPr lang="en-US" altLang="zh-CN" smtClean="0"/>
                        <a:t>2</a:t>
                      </a:r>
                      <a:r>
                        <a:rPr lang="zh-CN" altLang="en-US" smtClean="0"/>
                        <a:t>，系统中有</a:t>
                      </a:r>
                      <a:r>
                        <a:rPr lang="en-US" altLang="zh-CN" smtClean="0"/>
                        <a:t>1024</a:t>
                      </a:r>
                      <a:r>
                        <a:rPr lang="zh-CN" altLang="en-US" smtClean="0"/>
                        <a:t>个</a:t>
                      </a:r>
                      <a:r>
                        <a:rPr lang="en-US" altLang="zh-CN" smtClean="0"/>
                        <a:t>category</a:t>
                      </a:r>
                      <a:r>
                        <a:rPr lang="zh-CN" altLang="en-US" smtClean="0"/>
                        <a:t>，从</a:t>
                      </a:r>
                      <a:r>
                        <a:rPr lang="en-US" altLang="zh-CN" smtClean="0"/>
                        <a:t>c0</a:t>
                      </a:r>
                      <a:r>
                        <a:rPr lang="zh-CN" altLang="en-US" smtClean="0"/>
                        <a:t>到</a:t>
                      </a:r>
                      <a:r>
                        <a:rPr lang="en-US" altLang="zh-CN" smtClean="0"/>
                        <a:t>c1023</a:t>
                      </a:r>
                      <a:r>
                        <a:rPr lang="zh-CN" altLang="en-US" smtClean="0"/>
                        <a:t>。</a:t>
                      </a:r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r>
                        <a:rPr lang="zh-CN" altLang="en-US" smtClean="0"/>
                        <a:t>在</a:t>
                      </a:r>
                      <a:r>
                        <a:rPr lang="en-US" altLang="zh-CN" smtClean="0"/>
                        <a:t>android</a:t>
                      </a:r>
                      <a:r>
                        <a:rPr lang="zh-CN" altLang="en-US" smtClean="0"/>
                        <a:t>中通过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mlsconstrain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语句进行约束：</a:t>
                      </a:r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zh-CN" sz="2100" b="1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zh-CN" sz="2100" b="1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mlsconstrain</a:t>
                      </a:r>
                      <a:r>
                        <a:rPr lang="en-US" altLang="zh-CN" sz="2100" b="1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class </a:t>
                      </a:r>
                      <a:r>
                        <a:rPr lang="en-US" altLang="zh-CN" sz="2100" b="1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perm_set</a:t>
                      </a:r>
                      <a:r>
                        <a:rPr lang="en-US" altLang="zh-CN" sz="2100" b="1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expression;</a:t>
                      </a:r>
                    </a:p>
                    <a:p>
                      <a:r>
                        <a:rPr lang="en-US" altLang="zh-CN" sz="2100" b="1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</a:t>
                      </a:r>
                      <a:r>
                        <a:rPr lang="zh-CN" altLang="en-US" sz="2100" b="1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约束         类型     权限            条件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9217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问题进阶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098353"/>
              </p:ext>
            </p:extLst>
          </p:nvPr>
        </p:nvGraphicFramePr>
        <p:xfrm>
          <a:off x="436056" y="1053530"/>
          <a:ext cx="10801200" cy="4637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460656">
                <a:tc>
                  <a:txBody>
                    <a:bodyPr/>
                    <a:lstStyle/>
                    <a:p>
                      <a:pPr marL="0" marR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mtClean="0"/>
                        <a:t>Security Level</a:t>
                      </a:r>
                      <a:r>
                        <a:rPr lang="zh-CN" altLang="en-US" smtClean="0"/>
                        <a:t>和</a:t>
                      </a:r>
                      <a:r>
                        <a:rPr lang="en-US" altLang="zh-CN" smtClean="0"/>
                        <a:t>MLS</a:t>
                      </a:r>
                      <a:r>
                        <a:rPr lang="zh-CN" altLang="en-US" smtClean="0"/>
                        <a:t>案例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4177187">
                <a:tc>
                  <a:txBody>
                    <a:bodyPr/>
                    <a:lstStyle/>
                    <a:p>
                      <a:r>
                        <a:rPr lang="zh-CN" altLang="en-US" smtClean="0"/>
                        <a:t>错误</a:t>
                      </a:r>
                      <a:r>
                        <a:rPr lang="en-US" altLang="zh-CN" smtClean="0"/>
                        <a:t>log</a:t>
                      </a:r>
                      <a:r>
                        <a:rPr lang="zh-CN" altLang="en-US" smtClean="0"/>
                        <a:t>：</a:t>
                      </a:r>
                      <a:r>
                        <a:rPr lang="en-US" altLang="zh-CN" smtClean="0"/>
                        <a:t>W </a:t>
                      </a:r>
                      <a:r>
                        <a:rPr lang="en-US" altLang="zh-CN" err="1" smtClean="0"/>
                        <a:t>rild</a:t>
                      </a:r>
                      <a:r>
                        <a:rPr lang="en-US" altLang="zh-CN" smtClean="0"/>
                        <a:t>: type=1400 audit(0.0:2154): avc: denied { read } for scontext=u:r:rild:s0 tcontext=u:r:untrusted_app:s0:c512,c768 tclass=file permissive=0</a:t>
                      </a:r>
                    </a:p>
                    <a:p>
                      <a:endParaRPr lang="en-US" altLang="zh-CN" smtClean="0"/>
                    </a:p>
                    <a:p>
                      <a:r>
                        <a:rPr lang="zh-CN" altLang="en-US" smtClean="0"/>
                        <a:t>此时我们针对这个错误添加权限：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rild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untrusted_app:file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 read }; 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发现不生效。</a:t>
                      </a:r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r>
                        <a:rPr lang="zh-CN" altLang="en-US" smtClean="0"/>
                        <a:t>从</a:t>
                      </a:r>
                      <a:r>
                        <a:rPr lang="en-US" altLang="zh-CN" smtClean="0"/>
                        <a:t>mls</a:t>
                      </a:r>
                      <a:r>
                        <a:rPr lang="zh-CN" altLang="en-US" smtClean="0"/>
                        <a:t>文件里找一下这个约束语句：</a:t>
                      </a:r>
                      <a:endParaRPr lang="en-US" altLang="zh-CN" smtClean="0"/>
                    </a:p>
                    <a:p>
                      <a:r>
                        <a:rPr lang="en-US" altLang="zh-CN" err="1" smtClean="0"/>
                        <a:t>mlsconstrain</a:t>
                      </a:r>
                      <a:r>
                        <a:rPr lang="en-US" altLang="zh-CN" smtClean="0"/>
                        <a:t> { </a:t>
                      </a:r>
                      <a:r>
                        <a:rPr lang="en-US" altLang="zh-CN" smtClean="0">
                          <a:solidFill>
                            <a:srgbClr val="FF0000"/>
                          </a:solidFill>
                        </a:rPr>
                        <a:t>file</a:t>
                      </a:r>
                      <a:r>
                        <a:rPr lang="en-US" altLang="zh-CN" smtClean="0"/>
                        <a:t> </a:t>
                      </a:r>
                      <a:r>
                        <a:rPr lang="en-US" altLang="zh-CN" err="1" smtClean="0"/>
                        <a:t>lnk_file</a:t>
                      </a:r>
                      <a:r>
                        <a:rPr lang="en-US" altLang="zh-CN" smtClean="0"/>
                        <a:t> </a:t>
                      </a:r>
                      <a:r>
                        <a:rPr lang="en-US" altLang="zh-CN" err="1" smtClean="0"/>
                        <a:t>sock_file</a:t>
                      </a:r>
                      <a:r>
                        <a:rPr lang="en-US" altLang="zh-CN" smtClean="0"/>
                        <a:t> </a:t>
                      </a:r>
                      <a:r>
                        <a:rPr lang="en-US" altLang="zh-CN" err="1" smtClean="0"/>
                        <a:t>chr_file</a:t>
                      </a:r>
                      <a:r>
                        <a:rPr lang="en-US" altLang="zh-CN" smtClean="0"/>
                        <a:t> </a:t>
                      </a:r>
                      <a:r>
                        <a:rPr lang="en-US" altLang="zh-CN" err="1" smtClean="0"/>
                        <a:t>blk_file</a:t>
                      </a:r>
                      <a:r>
                        <a:rPr lang="en-US" altLang="zh-CN" smtClean="0"/>
                        <a:t> } { </a:t>
                      </a:r>
                      <a:r>
                        <a:rPr lang="en-US" altLang="zh-CN" smtClean="0">
                          <a:solidFill>
                            <a:srgbClr val="FF0000"/>
                          </a:solidFill>
                        </a:rPr>
                        <a:t>read</a:t>
                      </a:r>
                      <a:r>
                        <a:rPr lang="en-US" altLang="zh-CN" smtClean="0"/>
                        <a:t> </a:t>
                      </a:r>
                      <a:r>
                        <a:rPr lang="en-US" altLang="zh-CN" err="1" smtClean="0"/>
                        <a:t>getattr</a:t>
                      </a:r>
                      <a:r>
                        <a:rPr lang="en-US" altLang="zh-CN" smtClean="0"/>
                        <a:t> execute }	     (t2 == </a:t>
                      </a:r>
                      <a:r>
                        <a:rPr lang="en-US" altLang="zh-CN" err="1" smtClean="0"/>
                        <a:t>app_data_file</a:t>
                      </a:r>
                      <a:r>
                        <a:rPr lang="en-US" altLang="zh-CN" smtClean="0"/>
                        <a:t> or t2 == </a:t>
                      </a:r>
                      <a:r>
                        <a:rPr lang="en-US" altLang="zh-CN" err="1" smtClean="0"/>
                        <a:t>privapp_data_file</a:t>
                      </a:r>
                      <a:r>
                        <a:rPr lang="en-US" altLang="zh-CN" smtClean="0"/>
                        <a:t> or t2 == </a:t>
                      </a:r>
                      <a:r>
                        <a:rPr lang="en-US" altLang="zh-CN" err="1" smtClean="0"/>
                        <a:t>appdomain_tmpfs</a:t>
                      </a:r>
                      <a:r>
                        <a:rPr lang="en-US" altLang="zh-CN" smtClean="0"/>
                        <a:t> or l1 </a:t>
                      </a:r>
                      <a:r>
                        <a:rPr lang="en-US" altLang="zh-CN" err="1" smtClean="0"/>
                        <a:t>dom</a:t>
                      </a:r>
                      <a:r>
                        <a:rPr lang="en-US" altLang="zh-CN" smtClean="0"/>
                        <a:t> l2 or t1 == </a:t>
                      </a:r>
                      <a:r>
                        <a:rPr lang="en-US" altLang="zh-CN" err="1" smtClean="0"/>
                        <a:t>mlstrustedsubject</a:t>
                      </a:r>
                      <a:r>
                        <a:rPr lang="en-US" altLang="zh-CN" smtClean="0"/>
                        <a:t> or </a:t>
                      </a:r>
                      <a:r>
                        <a:rPr lang="en-US" altLang="zh-CN" smtClean="0">
                          <a:solidFill>
                            <a:srgbClr val="00B050"/>
                          </a:solidFill>
                        </a:rPr>
                        <a:t>t2 == </a:t>
                      </a:r>
                      <a:r>
                        <a:rPr lang="en-US" altLang="zh-CN" err="1" smtClean="0">
                          <a:solidFill>
                            <a:srgbClr val="00B050"/>
                          </a:solidFill>
                        </a:rPr>
                        <a:t>mlstrustedobject</a:t>
                      </a:r>
                      <a:r>
                        <a:rPr lang="en-US" altLang="zh-CN" smtClean="0"/>
                        <a:t>);</a:t>
                      </a:r>
                    </a:p>
                    <a:p>
                      <a:endParaRPr lang="en-US" altLang="zh-CN" smtClean="0"/>
                    </a:p>
                    <a:p>
                      <a:r>
                        <a:rPr lang="zh-CN" altLang="en-US" smtClean="0"/>
                        <a:t>通过语句分析，给</a:t>
                      </a:r>
                      <a:r>
                        <a:rPr lang="en-US" altLang="zh-CN" smtClean="0"/>
                        <a:t>t2</a:t>
                      </a:r>
                      <a:r>
                        <a:rPr lang="zh-CN" altLang="en-US" smtClean="0"/>
                        <a:t>加上</a:t>
                      </a:r>
                      <a:r>
                        <a:rPr lang="en-US" altLang="zh-CN" err="1" smtClean="0"/>
                        <a:t>mlstrustedobject</a:t>
                      </a:r>
                      <a:r>
                        <a:rPr lang="zh-CN" altLang="en-US" smtClean="0"/>
                        <a:t>是最佳方案。</a:t>
                      </a:r>
                      <a:endParaRPr lang="en-US" altLang="zh-CN" smtClean="0"/>
                    </a:p>
                    <a:p>
                      <a:pPr marL="0" marR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mtClean="0"/>
                        <a:t>   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typeattribute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rild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err="1" smtClean="0"/>
                        <a:t>mlstrustedobject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6405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问题进阶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944401"/>
              </p:ext>
            </p:extLst>
          </p:nvPr>
        </p:nvGraphicFramePr>
        <p:xfrm>
          <a:off x="436056" y="1053530"/>
          <a:ext cx="10801200" cy="4968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493504">
                <a:tc>
                  <a:txBody>
                    <a:bodyPr/>
                    <a:lstStyle/>
                    <a:p>
                      <a:pPr marL="0" marR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b="1" i="0" kern="120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dac_override</a:t>
                      </a:r>
                      <a:r>
                        <a:rPr lang="zh-CN" altLang="en-US" b="1" smtClean="0"/>
                        <a:t>和分区存储</a:t>
                      </a:r>
                      <a:endParaRPr lang="en-US" altLang="zh-CN" b="1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4475048">
                <a:tc>
                  <a:txBody>
                    <a:bodyPr/>
                    <a:lstStyle/>
                    <a:p>
                      <a:r>
                        <a:rPr lang="zh-CN" altLang="en-US" smtClean="0"/>
                        <a:t>分区存储：</a:t>
                      </a:r>
                      <a:endParaRPr lang="en-US" altLang="zh-CN" smtClean="0"/>
                    </a:p>
                    <a:p>
                      <a:r>
                        <a:rPr lang="zh-CN" altLang="en-US" smtClean="0"/>
                        <a:t>    分区存储在</a:t>
                      </a:r>
                      <a:r>
                        <a:rPr lang="en-US" altLang="zh-CN" smtClean="0"/>
                        <a:t>Android10</a:t>
                      </a:r>
                      <a:r>
                        <a:rPr lang="zh-CN" altLang="en-US" smtClean="0"/>
                        <a:t>上架，在</a:t>
                      </a:r>
                      <a:r>
                        <a:rPr lang="en-US" altLang="zh-CN" smtClean="0"/>
                        <a:t>Android11</a:t>
                      </a:r>
                      <a:r>
                        <a:rPr lang="zh-CN" altLang="en-US" smtClean="0"/>
                        <a:t>强制打开，主要为了限制</a:t>
                      </a:r>
                      <a:r>
                        <a:rPr lang="en-US" altLang="zh-CN" smtClean="0"/>
                        <a:t>APP</a:t>
                      </a:r>
                      <a:r>
                        <a:rPr lang="zh-CN" altLang="en-US" smtClean="0"/>
                        <a:t>对外部存储的使用，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开启存储分区后 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只能访问自己目录下的文件和公共文件。</a:t>
                      </a:r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zh-CN" smtClean="0"/>
                    </a:p>
                    <a:p>
                      <a:r>
                        <a:rPr lang="en-US" altLang="zh-CN" err="1" smtClean="0"/>
                        <a:t>dac_override</a:t>
                      </a:r>
                      <a:r>
                        <a:rPr lang="en-US" altLang="zh-CN" smtClean="0"/>
                        <a:t>:</a:t>
                      </a:r>
                    </a:p>
                    <a:p>
                      <a:r>
                        <a:rPr lang="en-US" altLang="zh-CN" smtClean="0"/>
                        <a:t>    </a:t>
                      </a:r>
                      <a:r>
                        <a:rPr lang="zh-CN" altLang="en-US" smtClean="0"/>
                        <a:t>系统先进行</a:t>
                      </a:r>
                      <a:r>
                        <a:rPr lang="en-US" altLang="zh-CN" err="1" smtClean="0"/>
                        <a:t>dac</a:t>
                      </a:r>
                      <a:r>
                        <a:rPr lang="zh-CN" altLang="en-US" smtClean="0"/>
                        <a:t>再进行</a:t>
                      </a:r>
                      <a:r>
                        <a:rPr lang="en-US" altLang="zh-CN" smtClean="0"/>
                        <a:t>mac</a:t>
                      </a:r>
                      <a:r>
                        <a:rPr lang="zh-CN" altLang="en-US" smtClean="0"/>
                        <a:t>，但是</a:t>
                      </a:r>
                      <a:r>
                        <a:rPr lang="en-US" altLang="zh-CN" err="1" smtClean="0"/>
                        <a:t>dac</a:t>
                      </a:r>
                      <a:r>
                        <a:rPr lang="zh-CN" altLang="en-US" smtClean="0"/>
                        <a:t>是不会限制</a:t>
                      </a:r>
                      <a:r>
                        <a:rPr lang="en-US" altLang="zh-CN" smtClean="0"/>
                        <a:t>root</a:t>
                      </a:r>
                      <a:r>
                        <a:rPr lang="zh-CN" altLang="en-US" smtClean="0"/>
                        <a:t>大佬的，分区存储会导致一些</a:t>
                      </a:r>
                      <a:r>
                        <a:rPr lang="en-US" altLang="zh-CN" err="1" smtClean="0"/>
                        <a:t>sdcard</a:t>
                      </a:r>
                      <a:r>
                        <a:rPr lang="zh-CN" altLang="en-US" smtClean="0"/>
                        <a:t>目录下的文件系统也无法访问，客户又经常有这种需求，所以遇到一些不报告</a:t>
                      </a:r>
                      <a:r>
                        <a:rPr lang="en-US" altLang="zh-CN" smtClean="0"/>
                        <a:t>avc</a:t>
                      </a:r>
                      <a:r>
                        <a:rPr lang="zh-CN" altLang="en-US" smtClean="0"/>
                        <a:t>报告权限问题，但是关闭</a:t>
                      </a:r>
                      <a:r>
                        <a:rPr lang="en-US" altLang="zh-CN" err="1" smtClean="0"/>
                        <a:t>selinux</a:t>
                      </a:r>
                      <a:r>
                        <a:rPr lang="zh-CN" altLang="en-US" smtClean="0"/>
                        <a:t>又能解决的问题，可以考虑添加</a:t>
                      </a:r>
                      <a:r>
                        <a:rPr lang="en-US" altLang="zh-CN" err="1" smtClean="0"/>
                        <a:t>dac_override</a:t>
                      </a:r>
                      <a:r>
                        <a:rPr lang="zh-CN" altLang="en-US" smtClean="0"/>
                        <a:t>权限。</a:t>
                      </a:r>
                      <a:endParaRPr lang="en-US" altLang="zh-CN" smtClean="0"/>
                    </a:p>
                    <a:p>
                      <a:r>
                        <a:rPr lang="en-US" altLang="zh-CN" smtClean="0"/>
                        <a:t>   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dac_override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拒绝事件意味着违规进程正在尝试使用错误的权限访问某个文件。 正确的解决方案几乎从不授予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dac_override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权限，而是更改相应文件或进程的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unix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权限。</a:t>
                      </a:r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在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中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sdcard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目录无法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chmod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，使用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dac_override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语句：</a:t>
                      </a:r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allow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xxxx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self:capability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dac_override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};  (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注：一般会遭遇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neverallow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问题，需要同步修改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7562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问题进阶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557480"/>
              </p:ext>
            </p:extLst>
          </p:nvPr>
        </p:nvGraphicFramePr>
        <p:xfrm>
          <a:off x="436056" y="1053530"/>
          <a:ext cx="10801200" cy="4637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460656">
                <a:tc>
                  <a:txBody>
                    <a:bodyPr/>
                    <a:lstStyle/>
                    <a:p>
                      <a:pPr marL="0" marR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b="1" i="0" kern="120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dac_override</a:t>
                      </a:r>
                      <a:r>
                        <a:rPr lang="zh-CN" altLang="en-US" b="1" smtClean="0"/>
                        <a:t>和分区存储案例</a:t>
                      </a:r>
                      <a:endParaRPr lang="en-US" altLang="zh-CN" b="1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4177187">
                <a:tc>
                  <a:txBody>
                    <a:bodyPr/>
                    <a:lstStyle/>
                    <a:p>
                      <a:r>
                        <a:rPr lang="zh-CN" altLang="en-US" smtClean="0"/>
                        <a:t>在</a:t>
                      </a:r>
                      <a:r>
                        <a:rPr lang="en-US" altLang="zh-CN" smtClean="0"/>
                        <a:t>Android12</a:t>
                      </a:r>
                      <a:r>
                        <a:rPr lang="zh-CN" altLang="en-US" smtClean="0"/>
                        <a:t>中调用</a:t>
                      </a:r>
                      <a:r>
                        <a:rPr lang="en-US" altLang="zh-CN" err="1" smtClean="0"/>
                        <a:t>update_engine</a:t>
                      </a:r>
                      <a:r>
                        <a:rPr lang="zh-CN" altLang="en-US" smtClean="0"/>
                        <a:t>进行</a:t>
                      </a:r>
                      <a:r>
                        <a:rPr lang="en-US" altLang="zh-CN" smtClean="0"/>
                        <a:t>OTA</a:t>
                      </a:r>
                      <a:r>
                        <a:rPr lang="zh-CN" altLang="en-US" smtClean="0"/>
                        <a:t>升级报权限问题，关闭</a:t>
                      </a:r>
                      <a:r>
                        <a:rPr lang="en-US" altLang="zh-CN" smtClean="0"/>
                        <a:t>Selinux</a:t>
                      </a:r>
                      <a:r>
                        <a:rPr lang="zh-CN" altLang="en-US" smtClean="0"/>
                        <a:t>后正常：</a:t>
                      </a:r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r>
                        <a:rPr lang="zh-CN" altLang="en-US" smtClean="0"/>
                        <a:t>由于访问的是</a:t>
                      </a:r>
                      <a:r>
                        <a:rPr lang="en-US" altLang="zh-CN" err="1" smtClean="0"/>
                        <a:t>sdcard</a:t>
                      </a:r>
                      <a:r>
                        <a:rPr lang="zh-CN" altLang="en-US" smtClean="0"/>
                        <a:t>目录下的</a:t>
                      </a:r>
                      <a:r>
                        <a:rPr lang="en-US" altLang="zh-CN" smtClean="0"/>
                        <a:t>update.zip</a:t>
                      </a:r>
                      <a:r>
                        <a:rPr lang="zh-CN" altLang="en-US" smtClean="0"/>
                        <a:t>包，没办法给</a:t>
                      </a:r>
                      <a:r>
                        <a:rPr lang="en-US" altLang="zh-CN" smtClean="0"/>
                        <a:t>777</a:t>
                      </a:r>
                      <a:r>
                        <a:rPr lang="zh-CN" altLang="en-US" smtClean="0"/>
                        <a:t>权限。</a:t>
                      </a:r>
                      <a:endParaRPr lang="en-US" altLang="zh-CN" smtClean="0"/>
                    </a:p>
                    <a:p>
                      <a:endParaRPr lang="en-US" altLang="zh-CN" smtClean="0"/>
                    </a:p>
                    <a:p>
                      <a:r>
                        <a:rPr lang="zh-CN" altLang="en-US" smtClean="0"/>
                        <a:t>解决，在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update_engine.te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文件添加</a:t>
                      </a:r>
                      <a:endParaRPr lang="en-US" altLang="zh-CN" smtClean="0"/>
                    </a:p>
                    <a:p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update_engine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self:capability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dac_override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dac_read_search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};</a:t>
                      </a:r>
                    </a:p>
                    <a:p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typeattribute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update_engine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dac_override_allowed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37" y="2061642"/>
            <a:ext cx="9640071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8499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问题进阶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688225"/>
              </p:ext>
            </p:extLst>
          </p:nvPr>
        </p:nvGraphicFramePr>
        <p:xfrm>
          <a:off x="436056" y="1053530"/>
          <a:ext cx="10801200" cy="4637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460656">
                <a:tc>
                  <a:txBody>
                    <a:bodyPr/>
                    <a:lstStyle/>
                    <a:p>
                      <a:pPr marL="0" marR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b="1" i="0" kern="120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ioctl</a:t>
                      </a:r>
                      <a:r>
                        <a:rPr lang="zh-CN" altLang="en-US" sz="2100" b="1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CN" sz="2100" b="1" i="0" kern="120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allowxperm</a:t>
                      </a:r>
                      <a:r>
                        <a:rPr lang="zh-CN" altLang="en-US" sz="2100" b="1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问题</a:t>
                      </a:r>
                      <a:endParaRPr lang="en-US" altLang="zh-CN" b="1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4177187">
                <a:tc>
                  <a:txBody>
                    <a:bodyPr/>
                    <a:lstStyle/>
                    <a:p>
                      <a:endParaRPr lang="en-US" altLang="zh-CN" smtClean="0"/>
                    </a:p>
                    <a:p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原因：</a:t>
                      </a:r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ioctl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能够操作的东西太多， 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SELinux 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对其做了进一步的限制，且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ioctl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的控制在底层划分得更细，因此需要针对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ioctl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做出额外的规则申明来允许对应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ioctlcmd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操作。</a:t>
                      </a:r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对于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ioctl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操作限制报出来的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avc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，只添加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语句甚至直接关闭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selinux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都无法修复，需要添加对应的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ioctlcmd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精细控制，定义在：</a:t>
                      </a:r>
                      <a:r>
                        <a:rPr lang="en-US" altLang="zh-CN" smtClean="0"/>
                        <a:t/>
                      </a:r>
                      <a:br>
                        <a:rPr lang="en-US" altLang="zh-CN" smtClean="0"/>
                      </a:br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baseline="0" smtClean="0"/>
                        <a:t>    </a:t>
                      </a:r>
                      <a:r>
                        <a:rPr lang="en-US" altLang="zh-CN" smtClean="0"/>
                        <a:t>system\</a:t>
                      </a:r>
                      <a:r>
                        <a:rPr lang="en-US" altLang="zh-CN" err="1" smtClean="0"/>
                        <a:t>sepolicy</a:t>
                      </a:r>
                      <a:r>
                        <a:rPr lang="en-US" altLang="zh-CN" smtClean="0"/>
                        <a:t>\public\</a:t>
                      </a:r>
                      <a:r>
                        <a:rPr lang="en-US" altLang="zh-CN" err="1" smtClean="0"/>
                        <a:t>ioctl_defines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94680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latin typeface="黑体" panose="02010609060101010101" pitchFamily="49" charset="-122"/>
              </a:rPr>
              <a:t>SELinux</a:t>
            </a:r>
            <a:r>
              <a:rPr lang="zh-CN" altLang="en-US" sz="2800" smtClean="0">
                <a:latin typeface="黑体" panose="02010609060101010101" pitchFamily="49" charset="-122"/>
              </a:rPr>
              <a:t>问题进阶</a:t>
            </a:r>
            <a:endParaRPr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754170"/>
              </p:ext>
            </p:extLst>
          </p:nvPr>
        </p:nvGraphicFramePr>
        <p:xfrm>
          <a:off x="436056" y="1053530"/>
          <a:ext cx="10801200" cy="4637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0">
                  <a:extLst>
                    <a:ext uri="{9D8B030D-6E8A-4147-A177-3AD203B41FA5}">
                      <a16:colId xmlns:a16="http://schemas.microsoft.com/office/drawing/2014/main" val="1777766277"/>
                    </a:ext>
                  </a:extLst>
                </a:gridCol>
              </a:tblGrid>
              <a:tr h="460656">
                <a:tc>
                  <a:txBody>
                    <a:bodyPr/>
                    <a:lstStyle/>
                    <a:p>
                      <a:pPr marL="0" marR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100" b="1" i="0" kern="120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ioctl</a:t>
                      </a:r>
                      <a:r>
                        <a:rPr lang="zh-CN" altLang="en-US" sz="2100" b="1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CN" sz="2100" b="1" i="0" kern="120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allowxperm</a:t>
                      </a:r>
                      <a:r>
                        <a:rPr lang="zh-CN" altLang="en-US" sz="2100" b="1" i="0" kern="120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问题案例</a:t>
                      </a:r>
                      <a:endParaRPr lang="en-US" altLang="zh-CN" b="1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641154"/>
                  </a:ext>
                </a:extLst>
              </a:tr>
              <a:tr h="4177187">
                <a:tc>
                  <a:txBody>
                    <a:bodyPr/>
                    <a:lstStyle/>
                    <a:p>
                      <a:r>
                        <a:rPr lang="en-US" altLang="zh-CN" smtClean="0"/>
                        <a:t>Log:l08-07 10:49:20.149 4795 4795 I </a:t>
                      </a:r>
                      <a:r>
                        <a:rPr lang="en-US" altLang="zh-CN" err="1" smtClean="0"/>
                        <a:t>iwpriv</a:t>
                      </a:r>
                      <a:r>
                        <a:rPr lang="en-US" altLang="zh-CN" smtClean="0"/>
                        <a:t>: type=1400 audit(0.0:3457): avc: denied { </a:t>
                      </a:r>
                      <a:r>
                        <a:rPr lang="en-US" altLang="zh-CN" err="1" smtClean="0"/>
                        <a:t>ioctl</a:t>
                      </a:r>
                      <a:r>
                        <a:rPr lang="en-US" altLang="zh-CN" smtClean="0"/>
                        <a:t>} for path="socket:[1607798]" dev="</a:t>
                      </a:r>
                      <a:r>
                        <a:rPr lang="en-US" altLang="zh-CN" err="1" smtClean="0"/>
                        <a:t>sockfs</a:t>
                      </a:r>
                      <a:r>
                        <a:rPr lang="en-US" altLang="zh-CN" smtClean="0"/>
                        <a:t>" </a:t>
                      </a:r>
                      <a:r>
                        <a:rPr lang="en-US" altLang="zh-CN" err="1" smtClean="0"/>
                        <a:t>ino</a:t>
                      </a:r>
                      <a:r>
                        <a:rPr lang="en-US" altLang="zh-CN" smtClean="0"/>
                        <a:t>=1607798 </a:t>
                      </a:r>
                      <a:r>
                        <a:rPr lang="en-US" altLang="zh-CN" err="1" smtClean="0"/>
                        <a:t>ioctlcmd</a:t>
                      </a:r>
                      <a:r>
                        <a:rPr lang="en-US" altLang="zh-CN" smtClean="0"/>
                        <a:t>=8bfc scontext=u:r:system_app:s0 tcontext=u:r:system_app:s0 tclass=</a:t>
                      </a:r>
                      <a:r>
                        <a:rPr lang="en-US" altLang="zh-CN" err="1" smtClean="0"/>
                        <a:t>udp_socketpermissive</a:t>
                      </a:r>
                      <a:r>
                        <a:rPr lang="en-US" altLang="zh-CN" smtClean="0"/>
                        <a:t>=1</a:t>
                      </a:r>
                    </a:p>
                    <a:p>
                      <a:endParaRPr lang="en-US" altLang="zh-CN" smtClean="0"/>
                    </a:p>
                    <a:p>
                      <a:r>
                        <a:rPr lang="zh-CN" altLang="en-US" smtClean="0"/>
                        <a:t>添加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system_appself:udp_socketioctl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r>
                        <a:rPr lang="zh-CN" altLang="en-US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不生效</a:t>
                      </a:r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zh-CN" sz="2100" b="0" i="0" kern="120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mtClean="0"/>
                        <a:t>解决：</a:t>
                      </a:r>
                      <a:endParaRPr lang="en-US" altLang="zh-CN" smtClean="0"/>
                    </a:p>
                    <a:p>
                      <a:pPr marL="0" marR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mtClean="0"/>
                        <a:t>根据</a:t>
                      </a:r>
                      <a:r>
                        <a:rPr lang="en-US" altLang="zh-CN" err="1" smtClean="0"/>
                        <a:t>ioctlcmd</a:t>
                      </a:r>
                      <a:r>
                        <a:rPr lang="en-US" altLang="zh-CN" smtClean="0"/>
                        <a:t>=8bfc</a:t>
                      </a:r>
                      <a:r>
                        <a:rPr lang="zh-CN" altLang="en-US" smtClean="0"/>
                        <a:t>在</a:t>
                      </a:r>
                      <a:r>
                        <a:rPr lang="en-US" altLang="zh-CN" smtClean="0"/>
                        <a:t>system\</a:t>
                      </a:r>
                      <a:r>
                        <a:rPr lang="en-US" altLang="zh-CN" err="1" smtClean="0"/>
                        <a:t>sepolicy</a:t>
                      </a:r>
                      <a:r>
                        <a:rPr lang="en-US" altLang="zh-CN" smtClean="0"/>
                        <a:t>\public\</a:t>
                      </a:r>
                      <a:r>
                        <a:rPr lang="en-US" altLang="zh-CN" err="1" smtClean="0"/>
                        <a:t>ioctl_defines</a:t>
                      </a:r>
                      <a:r>
                        <a:rPr lang="zh-CN" altLang="en-US" smtClean="0"/>
                        <a:t>找到：</a:t>
                      </a:r>
                      <a:endParaRPr lang="en-US" altLang="zh-CN" smtClean="0"/>
                    </a:p>
                    <a:p>
                      <a:pPr marL="0" marR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mtClean="0"/>
                        <a:t>    define(`SIOCIWFIRSTPRIV_1C', `0x00008bfc')</a:t>
                      </a:r>
                    </a:p>
                    <a:p>
                      <a:pPr marL="0" marR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mtClean="0"/>
                        <a:t>添加如下语句：</a:t>
                      </a:r>
                      <a:endParaRPr lang="en-US" altLang="zh-CN" smtClean="0"/>
                    </a:p>
                    <a:p>
                      <a:pPr marL="0" marR="0" indent="0" algn="l" defTabSz="10883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mtClean="0"/>
                        <a:t>   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allowxperm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system_app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self:udp_socket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100" b="0" i="0" kern="120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ioctl</a:t>
                      </a:r>
                      <a:r>
                        <a:rPr lang="en-US" altLang="zh-CN" sz="2100" b="0" i="0" kern="120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SIOCIWFIRSTPRIV_1C;</a:t>
                      </a:r>
                      <a:endParaRPr lang="en-US" altLang="zh-CN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1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6156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657754" y="2268530"/>
            <a:ext cx="3081254" cy="1476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5999" b="1">
                <a:solidFill>
                  <a:srgbClr val="C00000"/>
                </a:solidFill>
                <a:latin typeface="Arial Black" panose="020B0A04020102020204" pitchFamily="34" charset="0"/>
                <a:ea typeface="黑体" panose="02010609060101010101" pitchFamily="49" charset="-122"/>
                <a:cs typeface="Arial Black" panose="020B0A04020102020204" charset="0"/>
              </a:rPr>
              <a:t>Q&amp;A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EA4C1D-7423-4ED1-95B7-761753AAB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999" y="502011"/>
            <a:ext cx="11061208" cy="447784"/>
          </a:xfrm>
        </p:spPr>
        <p:txBody>
          <a:bodyPr>
            <a:normAutofit fontScale="90000"/>
          </a:bodyPr>
          <a:lstStyle/>
          <a:p>
            <a:r>
              <a:rPr lang="zh-CN" altLang="en-US" sz="31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cs typeface="Arial" panose="020B0604020202020204" pitchFamily="34" charset="0"/>
              </a:rPr>
              <a:t>课程答疑</a:t>
            </a:r>
            <a:endParaRPr lang="en-US" altLang="zh-CN" sz="3100">
              <a:solidFill>
                <a:srgbClr val="00B0F0"/>
              </a:solidFill>
              <a:latin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5807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995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101021</TotalTime>
  <Words>2457</Words>
  <Application>Microsoft Office PowerPoint</Application>
  <PresentationFormat>自定义</PresentationFormat>
  <Paragraphs>326</Paragraphs>
  <Slides>40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Source Han Sans SC</vt:lpstr>
      <vt:lpstr>黑体</vt:lpstr>
      <vt:lpstr>宋体</vt:lpstr>
      <vt:lpstr>微软雅黑</vt:lpstr>
      <vt:lpstr>微软雅黑</vt:lpstr>
      <vt:lpstr>Arial</vt:lpstr>
      <vt:lpstr>Arial Black</vt:lpstr>
      <vt:lpstr>Calibri</vt:lpstr>
      <vt:lpstr>Verdana</vt:lpstr>
      <vt:lpstr>Wingdings</vt:lpstr>
      <vt:lpstr>Office 主题</vt:lpstr>
      <vt:lpstr>PowerPoint 演示文稿</vt:lpstr>
      <vt:lpstr>PowerPoint 演示文稿</vt:lpstr>
      <vt:lpstr>SELinux基础知识介绍</vt:lpstr>
      <vt:lpstr>SELinux基础知识介绍</vt:lpstr>
      <vt:lpstr>SELinux基础知识介绍</vt:lpstr>
      <vt:lpstr>SELinux基础知识介绍</vt:lpstr>
      <vt:lpstr>SELinux基础知识介绍</vt:lpstr>
      <vt:lpstr>什么情况下会遇到SELinux问题：</vt:lpstr>
      <vt:lpstr>SELinux问题解决</vt:lpstr>
      <vt:lpstr>SELinux常规问题解决</vt:lpstr>
      <vt:lpstr>SELinux常规问题解决</vt:lpstr>
      <vt:lpstr>SELinux常规问题解决</vt:lpstr>
      <vt:lpstr>SELinux常规问题解决</vt:lpstr>
      <vt:lpstr>SELinux常规问题解决</vt:lpstr>
      <vt:lpstr>SELinux基础知识介绍</vt:lpstr>
      <vt:lpstr>SELinux常规问题解决</vt:lpstr>
      <vt:lpstr>SELinux常规问题解决</vt:lpstr>
      <vt:lpstr>不同Android版本SELinux添加</vt:lpstr>
      <vt:lpstr>不同Android版本SELinux添加</vt:lpstr>
      <vt:lpstr>不同Android版本SELinux添加</vt:lpstr>
      <vt:lpstr>不同Android版本SELinux添加</vt:lpstr>
      <vt:lpstr>不同Android版本SELinux添加</vt:lpstr>
      <vt:lpstr>Android init添加脚本</vt:lpstr>
      <vt:lpstr>SELinux问题进阶</vt:lpstr>
      <vt:lpstr>SELinux问题进阶</vt:lpstr>
      <vt:lpstr>SELinux问题进阶</vt:lpstr>
      <vt:lpstr>SELinux问题进阶</vt:lpstr>
      <vt:lpstr>SELinux问题进阶</vt:lpstr>
      <vt:lpstr>SELinux问题进阶</vt:lpstr>
      <vt:lpstr>SELinux问题进阶</vt:lpstr>
      <vt:lpstr>SELinux问题进阶</vt:lpstr>
      <vt:lpstr>SELinux问题进阶</vt:lpstr>
      <vt:lpstr>SELinux问题进阶</vt:lpstr>
      <vt:lpstr>SELinux问题进阶</vt:lpstr>
      <vt:lpstr>SELinux问题进阶</vt:lpstr>
      <vt:lpstr>SELinux问题进阶</vt:lpstr>
      <vt:lpstr>SELinux问题进阶</vt:lpstr>
      <vt:lpstr>SELinux问题进阶</vt:lpstr>
      <vt:lpstr>课程答疑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Robert</dc:creator>
  <cp:lastModifiedBy>Jambo Liu(刘建博)</cp:lastModifiedBy>
  <cp:revision>3018</cp:revision>
  <dcterms:created xsi:type="dcterms:W3CDTF">2018-01-21T11:13:00Z</dcterms:created>
  <dcterms:modified xsi:type="dcterms:W3CDTF">2023-04-25T02:08:22Z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